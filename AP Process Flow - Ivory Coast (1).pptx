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56" r:id="rId6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DD7294-AF95-4EF6-BE47-D34A54849265}" name="Alsina, Matias" initials="AM" userId="S::matias.alsina@seaboardcorp.com::9358c409-8162-47f3-bcba-420783be21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  <a:srgbClr val="1B2A4A"/>
    <a:srgbClr val="18154C"/>
    <a:srgbClr val="998A5B"/>
    <a:srgbClr val="2B3A54"/>
    <a:srgbClr val="5C6BC0"/>
    <a:srgbClr val="E8963E"/>
    <a:srgbClr val="0F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956BB-DD8A-2CBD-51FF-2FD09732216B}" v="9" dt="2026-03-20T11:03:46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6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sina, Matias" userId="S::matias.alsina@seaboardcorp.com::9358c409-8162-47f3-bcba-420783be213c" providerId="AD" clId="Web-{D9BF218A-E2AD-CC1E-21CE-7758163E1432}"/>
    <pc:docChg chg="mod modSld">
      <pc:chgData name="Alsina, Matias" userId="S::matias.alsina@seaboardcorp.com::9358c409-8162-47f3-bcba-420783be213c" providerId="AD" clId="Web-{D9BF218A-E2AD-CC1E-21CE-7758163E1432}" dt="2026-02-24T00:33:53.495" v="27" actId="20577"/>
      <pc:docMkLst>
        <pc:docMk/>
      </pc:docMkLst>
    </pc:docChg>
  </pc:docChgLst>
  <pc:docChgLst>
    <pc:chgData name="Hoskins, Adriana" userId="S::adriana.hoskins@seaboardcorp.com::5a16eb6c-db24-43db-88f2-3ea6a715ecfe" providerId="AD" clId="Web-{51B21A5A-6657-1266-4F1B-3116719157F3}"/>
    <pc:docChg chg="modSld">
      <pc:chgData name="Hoskins, Adriana" userId="S::adriana.hoskins@seaboardcorp.com::5a16eb6c-db24-43db-88f2-3ea6a715ecfe" providerId="AD" clId="Web-{51B21A5A-6657-1266-4F1B-3116719157F3}" dt="2026-02-25T23:22:38.788" v="1" actId="14100"/>
      <pc:docMkLst>
        <pc:docMk/>
      </pc:docMkLst>
    </pc:docChg>
  </pc:docChgLst>
  <pc:docChgLst>
    <pc:chgData name="Alsina, Matias" userId="9358c409-8162-47f3-bcba-420783be213c" providerId="ADAL" clId="{CC88A50B-95A4-4DFE-9538-336A0E70F8D9}"/>
    <pc:docChg chg="undo redo custSel addSld delSld modSld sldOrd">
      <pc:chgData name="Alsina, Matias" userId="9358c409-8162-47f3-bcba-420783be213c" providerId="ADAL" clId="{CC88A50B-95A4-4DFE-9538-336A0E70F8D9}" dt="2026-02-26T23:55:57.333" v="2813" actId="20577"/>
      <pc:docMkLst>
        <pc:docMk/>
      </pc:docMkLst>
      <pc:sldChg chg="addSp delSp modSp add del mod ord setBg">
        <pc:chgData name="Alsina, Matias" userId="9358c409-8162-47f3-bcba-420783be213c" providerId="ADAL" clId="{CC88A50B-95A4-4DFE-9538-336A0E70F8D9}" dt="2026-02-26T22:26:52.075" v="2498" actId="20577"/>
        <pc:sldMkLst>
          <pc:docMk/>
          <pc:sldMk cId="0" sldId="256"/>
        </pc:sldMkLst>
        <pc:spChg chg="mod">
          <ac:chgData name="Alsina, Matias" userId="9358c409-8162-47f3-bcba-420783be213c" providerId="ADAL" clId="{CC88A50B-95A4-4DFE-9538-336A0E70F8D9}" dt="2026-02-26T04:47:58.065" v="903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1:19:48.368" v="139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1:20:01.205" v="149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6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7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8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9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lsina, Matias" userId="9358c409-8162-47f3-bcba-420783be213c" providerId="ADAL" clId="{CC88A50B-95A4-4DFE-9538-336A0E70F8D9}" dt="2026-02-26T01:08:00.422" v="48" actId="21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5:01:12.227" v="1025" actId="20577"/>
          <ac:spMkLst>
            <pc:docMk/>
            <pc:sldMk cId="0" sldId="256"/>
            <ac:spMk id="38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22:26:52.075" v="2498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4:58:57.870" v="1011" actId="20577"/>
          <ac:spMkLst>
            <pc:docMk/>
            <pc:sldMk cId="0" sldId="256"/>
            <ac:spMk id="66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5:02:00.372" v="1042" actId="20577"/>
          <ac:spMkLst>
            <pc:docMk/>
            <pc:sldMk cId="0" sldId="256"/>
            <ac:spMk id="79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4:54:12.775" v="948" actId="20577"/>
          <ac:spMkLst>
            <pc:docMk/>
            <pc:sldMk cId="0" sldId="256"/>
            <ac:spMk id="81" creationId="{00000000-0000-0000-0000-000000000000}"/>
          </ac:spMkLst>
        </pc:spChg>
        <pc:spChg chg="mod">
          <ac:chgData name="Alsina, Matias" userId="9358c409-8162-47f3-bcba-420783be213c" providerId="ADAL" clId="{CC88A50B-95A4-4DFE-9538-336A0E70F8D9}" dt="2026-02-26T04:55:59.100" v="982" actId="20577"/>
          <ac:spMkLst>
            <pc:docMk/>
            <pc:sldMk cId="0" sldId="256"/>
            <ac:spMk id="82" creationId="{00000000-0000-0000-0000-000000000000}"/>
          </ac:spMkLst>
        </pc:spChg>
      </pc:sldChg>
      <pc:sldChg chg="addSp delSp modSp add mod setBg">
        <pc:chgData name="Alsina, Matias" userId="9358c409-8162-47f3-bcba-420783be213c" providerId="ADAL" clId="{CC88A50B-95A4-4DFE-9538-336A0E70F8D9}" dt="2026-02-26T04:43:02.302" v="895" actId="478"/>
        <pc:sldMkLst>
          <pc:docMk/>
          <pc:sldMk cId="3104834058" sldId="261"/>
        </pc:sldMkLst>
        <pc:spChg chg="mod">
          <ac:chgData name="Alsina, Matias" userId="9358c409-8162-47f3-bcba-420783be213c" providerId="ADAL" clId="{CC88A50B-95A4-4DFE-9538-336A0E70F8D9}" dt="2026-02-26T01:56:14.716" v="612" actId="20577"/>
          <ac:spMkLst>
            <pc:docMk/>
            <pc:sldMk cId="3104834058" sldId="261"/>
            <ac:spMk id="3" creationId="{6ADF9C14-8D19-3574-C48D-26C2AF42CF6E}"/>
          </ac:spMkLst>
        </pc:spChg>
        <pc:spChg chg="mod">
          <ac:chgData name="Alsina, Matias" userId="9358c409-8162-47f3-bcba-420783be213c" providerId="ADAL" clId="{CC88A50B-95A4-4DFE-9538-336A0E70F8D9}" dt="2026-02-26T01:41:50.650" v="245" actId="692"/>
          <ac:spMkLst>
            <pc:docMk/>
            <pc:sldMk cId="3104834058" sldId="261"/>
            <ac:spMk id="4" creationId="{FCBDF9DF-1BF4-D3AF-39CC-7510DDDBABB3}"/>
          </ac:spMkLst>
        </pc:spChg>
        <pc:spChg chg="add del mod">
          <ac:chgData name="Alsina, Matias" userId="9358c409-8162-47f3-bcba-420783be213c" providerId="ADAL" clId="{CC88A50B-95A4-4DFE-9538-336A0E70F8D9}" dt="2026-02-26T04:43:02.302" v="895" actId="478"/>
          <ac:spMkLst>
            <pc:docMk/>
            <pc:sldMk cId="3104834058" sldId="261"/>
            <ac:spMk id="5" creationId="{52160BC9-B976-E5F2-6455-DD8BE67113C4}"/>
          </ac:spMkLst>
        </pc:spChg>
      </pc:sldChg>
      <pc:sldChg chg="add ord setBg">
        <pc:chgData name="Alsina, Matias" userId="9358c409-8162-47f3-bcba-420783be213c" providerId="ADAL" clId="{CC88A50B-95A4-4DFE-9538-336A0E70F8D9}" dt="2026-02-26T19:41:34.931" v="2101"/>
        <pc:sldMkLst>
          <pc:docMk/>
          <pc:sldMk cId="0" sldId="285"/>
        </pc:sldMkLst>
      </pc:sldChg>
    </pc:docChg>
  </pc:docChgLst>
  <pc:docChgLst>
    <pc:chgData name="Hoskins, Adriana" userId="5a16eb6c-db24-43db-88f2-3ea6a715ecfe" providerId="ADAL" clId="{F3C68BF2-1A5D-4681-8C58-582C09E49971}"/>
    <pc:docChg chg="undo custSel addSld delSld modSld sldOrd">
      <pc:chgData name="Hoskins, Adriana" userId="5a16eb6c-db24-43db-88f2-3ea6a715ecfe" providerId="ADAL" clId="{F3C68BF2-1A5D-4681-8C58-582C09E49971}" dt="2026-02-26T23:52:53.667" v="693" actId="1076"/>
      <pc:docMkLst>
        <pc:docMk/>
      </pc:docMkLst>
      <pc:sldChg chg="modSp mod">
        <pc:chgData name="Hoskins, Adriana" userId="5a16eb6c-db24-43db-88f2-3ea6a715ecfe" providerId="ADAL" clId="{F3C68BF2-1A5D-4681-8C58-582C09E49971}" dt="2026-02-26T18:18:58.240" v="208" actId="1076"/>
        <pc:sldMkLst>
          <pc:docMk/>
          <pc:sldMk cId="3104834058" sldId="261"/>
        </pc:sldMkLst>
        <pc:spChg chg="mod">
          <ac:chgData name="Hoskins, Adriana" userId="5a16eb6c-db24-43db-88f2-3ea6a715ecfe" providerId="ADAL" clId="{F3C68BF2-1A5D-4681-8C58-582C09E49971}" dt="2026-02-26T18:18:58.240" v="208" actId="1076"/>
          <ac:spMkLst>
            <pc:docMk/>
            <pc:sldMk cId="3104834058" sldId="261"/>
            <ac:spMk id="5" creationId="{52160BC9-B976-E5F2-6455-DD8BE67113C4}"/>
          </ac:spMkLst>
        </pc:spChg>
      </pc:sldChg>
    </pc:docChg>
  </pc:docChgLst>
  <pc:docChgLst>
    <pc:chgData name="Hoskins, Adriana" userId="S::adriana.hoskins@seaboardcorp.com::5a16eb6c-db24-43db-88f2-3ea6a715ecfe" providerId="AD" clId="Web-{92A6BA2C-F847-9961-B5F0-B9FAE7D66D51}"/>
    <pc:docChg chg="modSld">
      <pc:chgData name="Hoskins, Adriana" userId="S::adriana.hoskins@seaboardcorp.com::5a16eb6c-db24-43db-88f2-3ea6a715ecfe" providerId="AD" clId="Web-{92A6BA2C-F847-9961-B5F0-B9FAE7D66D51}" dt="2026-02-24T00:29:08.744" v="585" actId="1076"/>
      <pc:docMkLst>
        <pc:docMk/>
      </pc:docMkLst>
    </pc:docChg>
  </pc:docChgLst>
  <pc:docChgLst>
    <pc:chgData name="Warner, Ashley" userId="S::ashley.warner@seaboardcorp.com::31f4a056-64da-4505-8915-49cf63468836" providerId="AD" clId="Web-{C99956BB-DD8A-2CBD-51FF-2FD09732216B}"/>
    <pc:docChg chg="modSld">
      <pc:chgData name="Warner, Ashley" userId="S::ashley.warner@seaboardcorp.com::31f4a056-64da-4505-8915-49cf63468836" providerId="AD" clId="Web-{C99956BB-DD8A-2CBD-51FF-2FD09732216B}" dt="2026-03-20T11:03:46.230" v="8" actId="20577"/>
      <pc:docMkLst>
        <pc:docMk/>
      </pc:docMkLst>
      <pc:sldChg chg="modSp">
        <pc:chgData name="Warner, Ashley" userId="S::ashley.warner@seaboardcorp.com::31f4a056-64da-4505-8915-49cf63468836" providerId="AD" clId="Web-{C99956BB-DD8A-2CBD-51FF-2FD09732216B}" dt="2026-03-20T11:03:46.230" v="8" actId="20577"/>
        <pc:sldMkLst>
          <pc:docMk/>
          <pc:sldMk cId="0" sldId="256"/>
        </pc:sldMkLst>
        <pc:spChg chg="mod">
          <ac:chgData name="Warner, Ashley" userId="S::ashley.warner@seaboardcorp.com::31f4a056-64da-4505-8915-49cf63468836" providerId="AD" clId="Web-{C99956BB-DD8A-2CBD-51FF-2FD09732216B}" dt="2026-03-20T11:03:46.230" v="8" actId="20577"/>
          <ac:spMkLst>
            <pc:docMk/>
            <pc:sldMk cId="0" sldId="256"/>
            <ac:spMk id="45" creationId="{00000000-0000-0000-0000-000000000000}"/>
          </ac:spMkLst>
        </pc:spChg>
      </pc:sldChg>
    </pc:docChg>
  </pc:docChgLst>
  <pc:docChgLst>
    <pc:chgData name="Hoskins, Adriana" userId="S::adriana.hoskins@seaboardcorp.com::5a16eb6c-db24-43db-88f2-3ea6a715ecfe" providerId="AD" clId="Web-{7C3E6B97-4C1D-A0A0-0BBC-6FB289A8059E}"/>
    <pc:docChg chg="modSld sldOrd">
      <pc:chgData name="Hoskins, Adriana" userId="S::adriana.hoskins@seaboardcorp.com::5a16eb6c-db24-43db-88f2-3ea6a715ecfe" providerId="AD" clId="Web-{7C3E6B97-4C1D-A0A0-0BBC-6FB289A8059E}" dt="2026-02-26T17:56:17.170" v="42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36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3479E-8A69-8EDD-B684-F50D3076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EAEEA-0D7F-690E-CB77-A8EAC1AE2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E8048-E3EC-15C6-B9D7-8C750EB23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72DA-0F95-AA80-C528-E88912D5B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4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424F6-45A8-B4B7-34C6-7F80FBC3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ADF9C14-8D19-3574-C48D-26C2AF42CF6E}"/>
              </a:ext>
            </a:extLst>
          </p:cNvPr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noProof="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Accounts Payable Process Flow – Ivory Coast (GMA)</a:t>
            </a:r>
            <a:endParaRPr lang="en-US" sz="3200" noProof="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BDF9DF-1BF4-D3AF-39CC-7510DDDBABB3}"/>
              </a:ext>
            </a:extLst>
          </p:cNvPr>
          <p:cNvSpPr/>
          <p:nvPr/>
        </p:nvSpPr>
        <p:spPr>
          <a:xfrm>
            <a:off x="731520" y="3383280"/>
            <a:ext cx="3657600" cy="0"/>
          </a:xfrm>
          <a:prstGeom prst="line">
            <a:avLst/>
          </a:prstGeom>
          <a:noFill/>
          <a:ln w="38100">
            <a:solidFill>
              <a:srgbClr val="998A5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160BC9-B976-E5F2-6455-DD8BE67113C4}"/>
              </a:ext>
            </a:extLst>
          </p:cNvPr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Discovery Session Findings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5278F5-67F4-AEB7-85C9-A0EF6A6F398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B1F2D"/>
              </a:clrFrom>
              <a:clrTo>
                <a:srgbClr val="1B1F2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72277" y="156465"/>
            <a:ext cx="1915678" cy="58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3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7536"/>
            <a:ext cx="7315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 Accounts Payable Process Flow – Current State</a:t>
            </a:r>
            <a:endParaRPr lang="en-US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7680960" y="146304"/>
            <a:ext cx="426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i="1" noProof="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· Based on the Discovery Session</a:t>
            </a:r>
            <a:endParaRPr lang="en-US" sz="1067" noProof="0" dirty="0"/>
          </a:p>
        </p:txBody>
      </p:sp>
      <p:sp>
        <p:nvSpPr>
          <p:cNvPr id="5" name="Shape 3"/>
          <p:cNvSpPr/>
          <p:nvPr/>
        </p:nvSpPr>
        <p:spPr>
          <a:xfrm>
            <a:off x="304800" y="950976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304800" y="950976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" name="Shape 5"/>
          <p:cNvSpPr/>
          <p:nvPr/>
        </p:nvSpPr>
        <p:spPr>
          <a:xfrm>
            <a:off x="402336" y="1011936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8" name="Text 6"/>
          <p:cNvSpPr/>
          <p:nvPr/>
        </p:nvSpPr>
        <p:spPr>
          <a:xfrm>
            <a:off x="402336" y="1011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33" noProof="0" dirty="0"/>
          </a:p>
        </p:txBody>
      </p:sp>
      <p:sp>
        <p:nvSpPr>
          <p:cNvPr id="9" name="Text 7"/>
          <p:cNvSpPr/>
          <p:nvPr/>
        </p:nvSpPr>
        <p:spPr>
          <a:xfrm>
            <a:off x="768096" y="101193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Received</a:t>
            </a:r>
            <a:endParaRPr lang="en-US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26720" y="1414272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physical Invoices, exception is email invoices</a:t>
            </a:r>
            <a:endParaRPr lang="en-US" sz="1000" noProof="0" dirty="0"/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files Invoices into a folder and delivers to Cyril and Francois daily (end of day or first thing in the morning).</a:t>
            </a:r>
          </a:p>
          <a:p>
            <a:pPr>
              <a:lnSpc>
                <a:spcPct val="115000"/>
              </a:lnSpc>
            </a:pPr>
            <a:endParaRPr lang="en-US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3803904" y="158496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noProof="0" dirty="0">
                <a:solidFill>
                  <a:srgbClr val="C9A84C"/>
                </a:solidFill>
              </a:rPr>
              <a:t>→</a:t>
            </a:r>
            <a:endParaRPr lang="en-US" sz="1733" noProof="0" dirty="0"/>
          </a:p>
        </p:txBody>
      </p:sp>
      <p:sp>
        <p:nvSpPr>
          <p:cNvPr id="12" name="Shape 10"/>
          <p:cNvSpPr/>
          <p:nvPr/>
        </p:nvSpPr>
        <p:spPr>
          <a:xfrm>
            <a:off x="4084320" y="950976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4084320" y="950976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Shape 12"/>
          <p:cNvSpPr/>
          <p:nvPr/>
        </p:nvSpPr>
        <p:spPr>
          <a:xfrm>
            <a:off x="4181856" y="1011936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4181856" y="1011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33" noProof="0" dirty="0"/>
          </a:p>
        </p:txBody>
      </p:sp>
      <p:sp>
        <p:nvSpPr>
          <p:cNvPr id="16" name="Text 14"/>
          <p:cNvSpPr/>
          <p:nvPr/>
        </p:nvSpPr>
        <p:spPr>
          <a:xfrm>
            <a:off x="4547616" y="101193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Pre-ERP Approval</a:t>
            </a:r>
            <a:endParaRPr lang="en-US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4206240" y="1414272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8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routes invoice to service requestor for approval. 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00" dirty="0"/>
              <a:t>Completes a </a:t>
            </a:r>
            <a:r>
              <a:rPr lang="en-US" sz="800" dirty="0" err="1"/>
              <a:t>prise</a:t>
            </a:r>
            <a:r>
              <a:rPr lang="en-US" sz="800" dirty="0"/>
              <a:t> en charge sticker (service requestor sign off) that is added to the physical invoice</a:t>
            </a:r>
            <a:endParaRPr lang="en-US" sz="800" noProof="0" dirty="0"/>
          </a:p>
          <a:p>
            <a:pPr>
              <a:lnSpc>
                <a:spcPct val="115000"/>
              </a:lnSpc>
            </a:pPr>
            <a:r>
              <a:rPr lang="en-US" sz="8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(Materials):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completes a goods receipt in system upon receipt of good.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 (Goods receipt, approved PO, Supplier Invoice)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2B3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endParaRPr lang="en-US" sz="800" dirty="0">
              <a:solidFill>
                <a:srgbClr val="2B3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2B3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83424" y="158496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noProof="0" dirty="0">
                <a:solidFill>
                  <a:srgbClr val="C9A84C"/>
                </a:solidFill>
              </a:rPr>
              <a:t>→</a:t>
            </a:r>
            <a:endParaRPr lang="en-US" sz="1733" noProof="0" dirty="0"/>
          </a:p>
        </p:txBody>
      </p:sp>
      <p:sp>
        <p:nvSpPr>
          <p:cNvPr id="19" name="Shape 17"/>
          <p:cNvSpPr/>
          <p:nvPr/>
        </p:nvSpPr>
        <p:spPr>
          <a:xfrm>
            <a:off x="7863840" y="950976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0" name="Shape 18"/>
          <p:cNvSpPr/>
          <p:nvPr/>
        </p:nvSpPr>
        <p:spPr>
          <a:xfrm>
            <a:off x="7863840" y="950976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Shape 19"/>
          <p:cNvSpPr/>
          <p:nvPr/>
        </p:nvSpPr>
        <p:spPr>
          <a:xfrm>
            <a:off x="7961376" y="1011936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7961376" y="1011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33" noProof="0" dirty="0"/>
          </a:p>
        </p:txBody>
      </p:sp>
      <p:sp>
        <p:nvSpPr>
          <p:cNvPr id="23" name="Text 21"/>
          <p:cNvSpPr/>
          <p:nvPr/>
        </p:nvSpPr>
        <p:spPr>
          <a:xfrm>
            <a:off x="8327136" y="101193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Entered in BC</a:t>
            </a:r>
            <a:endParaRPr lang="en-US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7985760" y="1414272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by team</a:t>
            </a:r>
            <a:endParaRPr lang="en-US" sz="1000" noProof="0" dirty="0"/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bon a payer when entering into the system. This is a sticker added to the physical invoice.</a:t>
            </a:r>
          </a:p>
        </p:txBody>
      </p:sp>
      <p:sp>
        <p:nvSpPr>
          <p:cNvPr id="26" name="Shape 24"/>
          <p:cNvSpPr/>
          <p:nvPr/>
        </p:nvSpPr>
        <p:spPr>
          <a:xfrm>
            <a:off x="304800" y="2682240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7" name="Shape 25"/>
          <p:cNvSpPr/>
          <p:nvPr/>
        </p:nvSpPr>
        <p:spPr>
          <a:xfrm>
            <a:off x="304800" y="2682240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8" name="Shape 26"/>
          <p:cNvSpPr/>
          <p:nvPr/>
        </p:nvSpPr>
        <p:spPr>
          <a:xfrm>
            <a:off x="402336" y="2743200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402336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33" noProof="0" dirty="0"/>
          </a:p>
        </p:txBody>
      </p:sp>
      <p:sp>
        <p:nvSpPr>
          <p:cNvPr id="30" name="Text 28"/>
          <p:cNvSpPr/>
          <p:nvPr/>
        </p:nvSpPr>
        <p:spPr>
          <a:xfrm>
            <a:off x="768096" y="2743200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Approved in BC</a:t>
            </a:r>
            <a:endParaRPr lang="en-US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426720" y="3145536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accountant signs bon a payer to confirm he’s reviewed the entry into the ERP. </a:t>
            </a:r>
            <a:endParaRPr lang="en-US" sz="1000" noProof="0" dirty="0">
              <a:solidFill>
                <a:srgbClr val="2B3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functions as a recording system rather than approval workflow</a:t>
            </a:r>
            <a:endParaRPr lang="en-US" sz="1000" noProof="0" dirty="0"/>
          </a:p>
        </p:txBody>
      </p:sp>
      <p:sp>
        <p:nvSpPr>
          <p:cNvPr id="32" name="Text 30"/>
          <p:cNvSpPr/>
          <p:nvPr/>
        </p:nvSpPr>
        <p:spPr>
          <a:xfrm>
            <a:off x="3803904" y="331622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noProof="0" dirty="0">
                <a:solidFill>
                  <a:srgbClr val="C9A84C"/>
                </a:solidFill>
              </a:rPr>
              <a:t>→</a:t>
            </a:r>
            <a:endParaRPr lang="en-US" sz="1733" noProof="0" dirty="0"/>
          </a:p>
        </p:txBody>
      </p:sp>
      <p:sp>
        <p:nvSpPr>
          <p:cNvPr id="33" name="Shape 31"/>
          <p:cNvSpPr/>
          <p:nvPr/>
        </p:nvSpPr>
        <p:spPr>
          <a:xfrm>
            <a:off x="4084320" y="2682240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4" name="Shape 32"/>
          <p:cNvSpPr/>
          <p:nvPr/>
        </p:nvSpPr>
        <p:spPr>
          <a:xfrm>
            <a:off x="4084320" y="2682240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5" name="Shape 33"/>
          <p:cNvSpPr/>
          <p:nvPr/>
        </p:nvSpPr>
        <p:spPr>
          <a:xfrm>
            <a:off x="4181856" y="2743200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6" name="Text 34"/>
          <p:cNvSpPr/>
          <p:nvPr/>
        </p:nvSpPr>
        <p:spPr>
          <a:xfrm>
            <a:off x="4181856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33" noProof="0" dirty="0"/>
          </a:p>
        </p:txBody>
      </p:sp>
      <p:sp>
        <p:nvSpPr>
          <p:cNvPr id="37" name="Text 35"/>
          <p:cNvSpPr/>
          <p:nvPr/>
        </p:nvSpPr>
        <p:spPr>
          <a:xfrm>
            <a:off x="4547616" y="2743200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Preparation</a:t>
            </a:r>
            <a:endParaRPr lang="en-US" sz="1200" noProof="0" dirty="0"/>
          </a:p>
        </p:txBody>
      </p:sp>
      <p:sp>
        <p:nvSpPr>
          <p:cNvPr id="38" name="Text 36"/>
          <p:cNvSpPr/>
          <p:nvPr/>
        </p:nvSpPr>
        <p:spPr>
          <a:xfrm>
            <a:off x="4206240" y="3145536"/>
            <a:ext cx="3230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/>
              <a:t>Physical invoices delivered to Joelle</a:t>
            </a:r>
          </a:p>
        </p:txBody>
      </p:sp>
      <p:sp>
        <p:nvSpPr>
          <p:cNvPr id="39" name="Text 37"/>
          <p:cNvSpPr/>
          <p:nvPr/>
        </p:nvSpPr>
        <p:spPr>
          <a:xfrm>
            <a:off x="7583424" y="331622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noProof="0" dirty="0">
                <a:solidFill>
                  <a:srgbClr val="C9A84C"/>
                </a:solidFill>
              </a:rPr>
              <a:t>→</a:t>
            </a:r>
            <a:endParaRPr lang="en-US" sz="1733" noProof="0" dirty="0"/>
          </a:p>
        </p:txBody>
      </p:sp>
      <p:sp>
        <p:nvSpPr>
          <p:cNvPr id="40" name="Shape 38"/>
          <p:cNvSpPr/>
          <p:nvPr/>
        </p:nvSpPr>
        <p:spPr>
          <a:xfrm>
            <a:off x="7863840" y="2682240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41" name="Shape 39"/>
          <p:cNvSpPr/>
          <p:nvPr/>
        </p:nvSpPr>
        <p:spPr>
          <a:xfrm>
            <a:off x="7863840" y="2682240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42" name="Shape 40"/>
          <p:cNvSpPr/>
          <p:nvPr/>
        </p:nvSpPr>
        <p:spPr>
          <a:xfrm>
            <a:off x="7961376" y="2743200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43" name="Text 41"/>
          <p:cNvSpPr/>
          <p:nvPr/>
        </p:nvSpPr>
        <p:spPr>
          <a:xfrm>
            <a:off x="7961376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33" noProof="0" dirty="0"/>
          </a:p>
        </p:txBody>
      </p:sp>
      <p:sp>
        <p:nvSpPr>
          <p:cNvPr id="44" name="Text 42"/>
          <p:cNvSpPr/>
          <p:nvPr/>
        </p:nvSpPr>
        <p:spPr>
          <a:xfrm>
            <a:off x="8327136" y="2743200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Initiation/Transmission</a:t>
            </a:r>
            <a:endParaRPr lang="en-US" sz="1200" noProof="0" dirty="0"/>
          </a:p>
        </p:txBody>
      </p:sp>
      <p:sp>
        <p:nvSpPr>
          <p:cNvPr id="45" name="Text 43"/>
          <p:cNvSpPr/>
          <p:nvPr/>
        </p:nvSpPr>
        <p:spPr>
          <a:xfrm>
            <a:off x="7985760" y="3145536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 in Societe Generale portal. 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paid individually – only batched payments are payroll related. 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assigned to approvers for payments based on workload that week. </a:t>
            </a:r>
          </a:p>
          <a:p>
            <a:pPr>
              <a:lnSpc>
                <a:spcPct val="114999"/>
              </a:lnSpc>
            </a:pPr>
            <a:endParaRPr lang="en-US" sz="1000" dirty="0">
              <a:solidFill>
                <a:srgbClr val="2B3A5E"/>
              </a:solidFill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04800" y="4413504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48" name="Shape 46"/>
          <p:cNvSpPr/>
          <p:nvPr/>
        </p:nvSpPr>
        <p:spPr>
          <a:xfrm>
            <a:off x="304800" y="4413504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49" name="Shape 47"/>
          <p:cNvSpPr/>
          <p:nvPr/>
        </p:nvSpPr>
        <p:spPr>
          <a:xfrm>
            <a:off x="402336" y="4474464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0" name="Text 48"/>
          <p:cNvSpPr/>
          <p:nvPr/>
        </p:nvSpPr>
        <p:spPr>
          <a:xfrm>
            <a:off x="402336" y="4474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33" noProof="0" dirty="0"/>
          </a:p>
        </p:txBody>
      </p:sp>
      <p:sp>
        <p:nvSpPr>
          <p:cNvPr id="51" name="Text 49"/>
          <p:cNvSpPr/>
          <p:nvPr/>
        </p:nvSpPr>
        <p:spPr>
          <a:xfrm>
            <a:off x="768096" y="447446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Authorized / Released</a:t>
            </a:r>
            <a:endParaRPr lang="en-US" sz="1200" noProof="0" dirty="0"/>
          </a:p>
        </p:txBody>
      </p:sp>
      <p:sp>
        <p:nvSpPr>
          <p:cNvPr id="52" name="Text 50"/>
          <p:cNvSpPr/>
          <p:nvPr/>
        </p:nvSpPr>
        <p:spPr>
          <a:xfrm>
            <a:off x="426720" y="4876800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online approvers (</a:t>
            </a:r>
            <a:r>
              <a:rPr lang="en-US" sz="1000" noProof="0" dirty="0" err="1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Socgen</a:t>
            </a: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for ACH and wires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released upon second approval</a:t>
            </a:r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 before the due date, payment will not debit before the due date.</a:t>
            </a:r>
            <a:endParaRPr lang="en-US" sz="1000" dirty="0">
              <a:solidFill>
                <a:srgbClr val="2B3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Cyril’s approval is lengthy as he goes through the invoices individually and ensures entire process was completed correctly. 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000" noProof="0" dirty="0"/>
          </a:p>
        </p:txBody>
      </p:sp>
      <p:sp>
        <p:nvSpPr>
          <p:cNvPr id="53" name="Text 51"/>
          <p:cNvSpPr/>
          <p:nvPr/>
        </p:nvSpPr>
        <p:spPr>
          <a:xfrm>
            <a:off x="3803904" y="50474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noProof="0" dirty="0">
                <a:solidFill>
                  <a:srgbClr val="C9A84C"/>
                </a:solidFill>
              </a:rPr>
              <a:t>→</a:t>
            </a:r>
            <a:endParaRPr lang="en-US" sz="1733" noProof="0" dirty="0"/>
          </a:p>
        </p:txBody>
      </p:sp>
      <p:sp>
        <p:nvSpPr>
          <p:cNvPr id="54" name="Shape 52"/>
          <p:cNvSpPr/>
          <p:nvPr/>
        </p:nvSpPr>
        <p:spPr>
          <a:xfrm>
            <a:off x="4084320" y="4413504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5" name="Shape 53"/>
          <p:cNvSpPr/>
          <p:nvPr/>
        </p:nvSpPr>
        <p:spPr>
          <a:xfrm>
            <a:off x="4084320" y="4413504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6" name="Shape 54"/>
          <p:cNvSpPr/>
          <p:nvPr/>
        </p:nvSpPr>
        <p:spPr>
          <a:xfrm>
            <a:off x="4181856" y="4474464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7" name="Text 55"/>
          <p:cNvSpPr/>
          <p:nvPr/>
        </p:nvSpPr>
        <p:spPr>
          <a:xfrm>
            <a:off x="4181856" y="4474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33" noProof="0" dirty="0"/>
          </a:p>
        </p:txBody>
      </p:sp>
      <p:sp>
        <p:nvSpPr>
          <p:cNvPr id="58" name="Text 56"/>
          <p:cNvSpPr/>
          <p:nvPr/>
        </p:nvSpPr>
        <p:spPr>
          <a:xfrm>
            <a:off x="4547616" y="447446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Settlement</a:t>
            </a:r>
            <a:endParaRPr lang="en-US" sz="1200" noProof="0" dirty="0"/>
          </a:p>
        </p:txBody>
      </p:sp>
      <p:sp>
        <p:nvSpPr>
          <p:cNvPr id="59" name="Text 57"/>
          <p:cNvSpPr/>
          <p:nvPr/>
        </p:nvSpPr>
        <p:spPr>
          <a:xfrm>
            <a:off x="4206240" y="4876800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and wire transactions processed (visible in account statement) 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are manually downloaded from the bank platforms and uploaded to the ERP daily</a:t>
            </a:r>
            <a:endParaRPr lang="en-US" sz="1000" noProof="0" dirty="0">
              <a:solidFill>
                <a:srgbClr val="2B3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583424" y="50474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noProof="0" dirty="0">
                <a:solidFill>
                  <a:srgbClr val="C9A84C"/>
                </a:solidFill>
              </a:rPr>
              <a:t>→</a:t>
            </a:r>
            <a:endParaRPr lang="en-US" sz="1733" noProof="0" dirty="0"/>
          </a:p>
        </p:txBody>
      </p:sp>
      <p:sp>
        <p:nvSpPr>
          <p:cNvPr id="61" name="Shape 59"/>
          <p:cNvSpPr/>
          <p:nvPr/>
        </p:nvSpPr>
        <p:spPr>
          <a:xfrm>
            <a:off x="7863840" y="4413504"/>
            <a:ext cx="34747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2" name="Shape 60"/>
          <p:cNvSpPr/>
          <p:nvPr/>
        </p:nvSpPr>
        <p:spPr>
          <a:xfrm>
            <a:off x="7863840" y="4413504"/>
            <a:ext cx="3474720" cy="414528"/>
          </a:xfrm>
          <a:prstGeom prst="rect">
            <a:avLst/>
          </a:prstGeom>
          <a:solidFill>
            <a:srgbClr val="2B3A5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3" name="Shape 61"/>
          <p:cNvSpPr/>
          <p:nvPr/>
        </p:nvSpPr>
        <p:spPr>
          <a:xfrm>
            <a:off x="7961376" y="4474464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7961376" y="4474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33" noProof="0" dirty="0"/>
          </a:p>
        </p:txBody>
      </p:sp>
      <p:sp>
        <p:nvSpPr>
          <p:cNvPr id="65" name="Text 63"/>
          <p:cNvSpPr/>
          <p:nvPr/>
        </p:nvSpPr>
        <p:spPr>
          <a:xfrm>
            <a:off x="8327136" y="447446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Ledger Reconciliation</a:t>
            </a:r>
            <a:endParaRPr lang="en-US" sz="1200" noProof="0" dirty="0"/>
          </a:p>
        </p:txBody>
      </p:sp>
      <p:sp>
        <p:nvSpPr>
          <p:cNvPr id="66" name="Text 64"/>
          <p:cNvSpPr/>
          <p:nvPr/>
        </p:nvSpPr>
        <p:spPr>
          <a:xfrm>
            <a:off x="7985760" y="4876800"/>
            <a:ext cx="323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Reconciliation – AP sub-ledger against GL automated (ITGC)</a:t>
            </a:r>
          </a:p>
          <a:p>
            <a:pPr marL="228594" indent="-228594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discrepancy resolution</a:t>
            </a:r>
            <a:endParaRPr lang="en-US" sz="1000" noProof="0" dirty="0"/>
          </a:p>
        </p:txBody>
      </p:sp>
      <p:sp>
        <p:nvSpPr>
          <p:cNvPr id="67" name="Shape 65"/>
          <p:cNvSpPr/>
          <p:nvPr/>
        </p:nvSpPr>
        <p:spPr>
          <a:xfrm>
            <a:off x="0" y="6120384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8" name="Shape 66"/>
          <p:cNvSpPr/>
          <p:nvPr/>
        </p:nvSpPr>
        <p:spPr>
          <a:xfrm>
            <a:off x="304800" y="6254782"/>
            <a:ext cx="121920" cy="1219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9" name="Text 67"/>
          <p:cNvSpPr/>
          <p:nvPr/>
        </p:nvSpPr>
        <p:spPr>
          <a:xfrm>
            <a:off x="487680" y="6193822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noProof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ERP</a:t>
            </a:r>
            <a:endParaRPr lang="en-US" sz="1000" noProof="0" dirty="0"/>
          </a:p>
        </p:txBody>
      </p:sp>
      <p:sp>
        <p:nvSpPr>
          <p:cNvPr id="70" name="Text 68"/>
          <p:cNvSpPr/>
          <p:nvPr/>
        </p:nvSpPr>
        <p:spPr>
          <a:xfrm>
            <a:off x="487680" y="6487280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noProof="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Business Central</a:t>
            </a:r>
            <a:endParaRPr lang="en-US" sz="933" noProof="0" dirty="0"/>
          </a:p>
        </p:txBody>
      </p:sp>
      <p:sp>
        <p:nvSpPr>
          <p:cNvPr id="71" name="Shape 69"/>
          <p:cNvSpPr/>
          <p:nvPr/>
        </p:nvSpPr>
        <p:spPr>
          <a:xfrm>
            <a:off x="2682240" y="6254782"/>
            <a:ext cx="121920" cy="1219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2" name="Text 70"/>
          <p:cNvSpPr/>
          <p:nvPr/>
        </p:nvSpPr>
        <p:spPr>
          <a:xfrm>
            <a:off x="2865120" y="6193822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noProof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</a:t>
            </a:r>
            <a:endParaRPr lang="en-US" sz="1000" noProof="0" dirty="0"/>
          </a:p>
        </p:txBody>
      </p:sp>
      <p:sp>
        <p:nvSpPr>
          <p:cNvPr id="73" name="Text 71"/>
          <p:cNvSpPr/>
          <p:nvPr/>
        </p:nvSpPr>
        <p:spPr>
          <a:xfrm>
            <a:off x="2865120" y="6480192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Societe Generale</a:t>
            </a:r>
          </a:p>
        </p:txBody>
      </p:sp>
      <p:sp>
        <p:nvSpPr>
          <p:cNvPr id="74" name="Shape 72"/>
          <p:cNvSpPr/>
          <p:nvPr/>
        </p:nvSpPr>
        <p:spPr>
          <a:xfrm>
            <a:off x="5059680" y="6254782"/>
            <a:ext cx="121920" cy="1219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5" name="Text 73"/>
          <p:cNvSpPr/>
          <p:nvPr/>
        </p:nvSpPr>
        <p:spPr>
          <a:xfrm>
            <a:off x="5242560" y="6193822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noProof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Mix</a:t>
            </a:r>
            <a:endParaRPr lang="en-US" sz="1000" noProof="0" dirty="0"/>
          </a:p>
        </p:txBody>
      </p:sp>
      <p:sp>
        <p:nvSpPr>
          <p:cNvPr id="76" name="Text 74"/>
          <p:cNvSpPr/>
          <p:nvPr/>
        </p:nvSpPr>
        <p:spPr>
          <a:xfrm>
            <a:off x="5242560" y="6508544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noProof="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· </a:t>
            </a:r>
            <a:r>
              <a:rPr lang="en-US" sz="90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· Check (minimal) </a:t>
            </a:r>
            <a:endParaRPr lang="en-US" sz="900" noProof="0" dirty="0">
              <a:solidFill>
                <a:srgbClr val="8AAD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noProof="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&gt; XOF 50M = Wire</a:t>
            </a:r>
          </a:p>
          <a:p>
            <a:r>
              <a:rPr lang="en-US" sz="90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&lt; XOF 50M = ACH</a:t>
            </a:r>
            <a:endParaRPr lang="en-US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7437120" y="6254782"/>
            <a:ext cx="121920" cy="1219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8" name="Text 76"/>
          <p:cNvSpPr/>
          <p:nvPr/>
        </p:nvSpPr>
        <p:spPr>
          <a:xfrm>
            <a:off x="7620000" y="6193822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noProof="0" dirty="0">
                <a:solidFill>
                  <a:srgbClr val="C9A84C"/>
                </a:solidFill>
                <a:latin typeface="Trebuchet MS" pitchFamily="34" charset="0"/>
              </a:rPr>
              <a:t>Reconciliation</a:t>
            </a:r>
            <a:endParaRPr lang="en-US" sz="1000" noProof="0" dirty="0"/>
          </a:p>
        </p:txBody>
      </p:sp>
      <p:sp>
        <p:nvSpPr>
          <p:cNvPr id="79" name="Text 77"/>
          <p:cNvSpPr/>
          <p:nvPr/>
        </p:nvSpPr>
        <p:spPr>
          <a:xfrm>
            <a:off x="7620000" y="6501456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monthly</a:t>
            </a:r>
            <a:endParaRPr lang="en-US" sz="933" noProof="0" dirty="0"/>
          </a:p>
        </p:txBody>
      </p:sp>
      <p:sp>
        <p:nvSpPr>
          <p:cNvPr id="80" name="Shape 78"/>
          <p:cNvSpPr/>
          <p:nvPr/>
        </p:nvSpPr>
        <p:spPr>
          <a:xfrm>
            <a:off x="9814560" y="6254782"/>
            <a:ext cx="121920" cy="1219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81" name="Text 79"/>
          <p:cNvSpPr/>
          <p:nvPr/>
        </p:nvSpPr>
        <p:spPr>
          <a:xfrm>
            <a:off x="9997440" y="6193823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noProof="0" dirty="0">
                <a:solidFill>
                  <a:srgbClr val="C9A84C"/>
                </a:solidFill>
                <a:latin typeface="Trebuchet MS" pitchFamily="34" charset="0"/>
              </a:rPr>
              <a:t>Opportunities</a:t>
            </a:r>
            <a:endParaRPr lang="en-US" sz="1000" noProof="0" dirty="0"/>
          </a:p>
        </p:txBody>
      </p:sp>
      <p:sp>
        <p:nvSpPr>
          <p:cNvPr id="82" name="Text 80"/>
          <p:cNvSpPr/>
          <p:nvPr/>
        </p:nvSpPr>
        <p:spPr>
          <a:xfrm>
            <a:off x="9997440" y="6480191"/>
            <a:ext cx="207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noProof="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Process + Automation + Greater Visibility + Efficiency + Control</a:t>
            </a:r>
            <a:endParaRPr lang="en-US" sz="933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7536"/>
            <a:ext cx="7924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Pain Points</a:t>
            </a:r>
            <a:endParaRPr lang="en-US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8290560" y="1463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i="1" noProof="0" dirty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Ivory Coast Payment Process Assessment</a:t>
            </a:r>
            <a:endParaRPr lang="en-US" sz="1067" noProof="0" dirty="0"/>
          </a:p>
        </p:txBody>
      </p:sp>
      <p:sp>
        <p:nvSpPr>
          <p:cNvPr id="5" name="Shape 3"/>
          <p:cNvSpPr/>
          <p:nvPr/>
        </p:nvSpPr>
        <p:spPr>
          <a:xfrm>
            <a:off x="243840" y="836983"/>
            <a:ext cx="5730240" cy="2352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243840" y="836983"/>
            <a:ext cx="5730240" cy="426720"/>
          </a:xfrm>
          <a:prstGeom prst="rect">
            <a:avLst/>
          </a:prstGeom>
          <a:solidFill>
            <a:srgbClr val="A3403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885751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and Workflow Delays</a:t>
            </a:r>
            <a:endParaRPr lang="en-US" sz="1333" noProof="0" dirty="0"/>
          </a:p>
        </p:txBody>
      </p:sp>
      <p:sp>
        <p:nvSpPr>
          <p:cNvPr id="8" name="Shape 6"/>
          <p:cNvSpPr/>
          <p:nvPr/>
        </p:nvSpPr>
        <p:spPr>
          <a:xfrm>
            <a:off x="390144" y="1404160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2" y="1484628"/>
            <a:ext cx="204825" cy="2048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3440" y="14041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invoice approval by operations — creates workarounds with estimates and duplicate work</a:t>
            </a:r>
            <a:endParaRPr lang="en-US" sz="1000" noProof="0" dirty="0"/>
          </a:p>
        </p:txBody>
      </p:sp>
      <p:sp>
        <p:nvSpPr>
          <p:cNvPr id="11" name="Shape 8"/>
          <p:cNvSpPr/>
          <p:nvPr/>
        </p:nvSpPr>
        <p:spPr>
          <a:xfrm>
            <a:off x="390144" y="1965650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12" y="2046118"/>
            <a:ext cx="204825" cy="2048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3440" y="196565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escalation — overdue approvals remain without visibility or alerts</a:t>
            </a:r>
            <a:endParaRPr lang="en-US" sz="1000" noProof="0" dirty="0"/>
          </a:p>
        </p:txBody>
      </p:sp>
      <p:sp>
        <p:nvSpPr>
          <p:cNvPr id="17" name="Shape 12"/>
          <p:cNvSpPr/>
          <p:nvPr/>
        </p:nvSpPr>
        <p:spPr>
          <a:xfrm>
            <a:off x="390144" y="2569405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12" y="2649873"/>
            <a:ext cx="204825" cy="2048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3440" y="2569405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received in primarily physical form – creates manual handling and routing effort</a:t>
            </a:r>
            <a:endParaRPr lang="en-US" sz="1000" noProof="0" dirty="0"/>
          </a:p>
        </p:txBody>
      </p:sp>
      <p:sp>
        <p:nvSpPr>
          <p:cNvPr id="20" name="Shape 14"/>
          <p:cNvSpPr/>
          <p:nvPr/>
        </p:nvSpPr>
        <p:spPr>
          <a:xfrm>
            <a:off x="6217920" y="836983"/>
            <a:ext cx="5730240" cy="2352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Shape 15"/>
          <p:cNvSpPr/>
          <p:nvPr/>
        </p:nvSpPr>
        <p:spPr>
          <a:xfrm>
            <a:off x="6217920" y="836983"/>
            <a:ext cx="5730240" cy="426720"/>
          </a:xfrm>
          <a:prstGeom prst="rect">
            <a:avLst/>
          </a:prstGeom>
          <a:solidFill>
            <a:srgbClr val="A3403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16"/>
          <p:cNvSpPr/>
          <p:nvPr/>
        </p:nvSpPr>
        <p:spPr>
          <a:xfrm>
            <a:off x="6339840" y="885751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Processes and Documentation</a:t>
            </a:r>
            <a:endParaRPr lang="en-US" sz="1333" noProof="0" dirty="0"/>
          </a:p>
        </p:txBody>
      </p:sp>
      <p:sp>
        <p:nvSpPr>
          <p:cNvPr id="23" name="Shape 17"/>
          <p:cNvSpPr/>
          <p:nvPr/>
        </p:nvSpPr>
        <p:spPr>
          <a:xfrm>
            <a:off x="6364224" y="1336197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692" y="1416665"/>
            <a:ext cx="204825" cy="2048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27520" y="1336197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signatures required for approvals, slowing down the process</a:t>
            </a:r>
            <a:endParaRPr lang="en-US" sz="1000" noProof="0" dirty="0"/>
          </a:p>
        </p:txBody>
      </p:sp>
      <p:sp>
        <p:nvSpPr>
          <p:cNvPr id="26" name="Shape 19"/>
          <p:cNvSpPr/>
          <p:nvPr/>
        </p:nvSpPr>
        <p:spPr>
          <a:xfrm>
            <a:off x="6364224" y="1761766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692" y="1842234"/>
            <a:ext cx="204825" cy="2048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27520" y="176176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entering of invoice into ERP — error-prone and resource-intensive</a:t>
            </a:r>
            <a:endParaRPr lang="en-US" sz="1000" noProof="0" dirty="0"/>
          </a:p>
        </p:txBody>
      </p:sp>
      <p:sp>
        <p:nvSpPr>
          <p:cNvPr id="32" name="Shape 23"/>
          <p:cNvSpPr/>
          <p:nvPr/>
        </p:nvSpPr>
        <p:spPr>
          <a:xfrm>
            <a:off x="6364224" y="2241867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4692" y="2322335"/>
            <a:ext cx="204825" cy="2048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27520" y="2241867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tracking of invoice/payment status — bottlenecks difficult to identify</a:t>
            </a:r>
            <a:endParaRPr lang="en-US" sz="1000" noProof="0" dirty="0"/>
          </a:p>
        </p:txBody>
      </p:sp>
      <p:sp>
        <p:nvSpPr>
          <p:cNvPr id="35" name="Shape 25"/>
          <p:cNvSpPr/>
          <p:nvPr/>
        </p:nvSpPr>
        <p:spPr>
          <a:xfrm>
            <a:off x="243840" y="3391601"/>
            <a:ext cx="5730240" cy="235266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6" name="Shape 26"/>
          <p:cNvSpPr/>
          <p:nvPr/>
        </p:nvSpPr>
        <p:spPr>
          <a:xfrm>
            <a:off x="243840" y="3391601"/>
            <a:ext cx="5730240" cy="426720"/>
          </a:xfrm>
          <a:prstGeom prst="rect">
            <a:avLst/>
          </a:prstGeom>
          <a:solidFill>
            <a:srgbClr val="A3403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7" name="Text 27"/>
          <p:cNvSpPr/>
          <p:nvPr/>
        </p:nvSpPr>
        <p:spPr>
          <a:xfrm>
            <a:off x="365760" y="3440369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Limitations and Integration</a:t>
            </a:r>
            <a:endParaRPr lang="en-US" sz="1333" noProof="0" dirty="0"/>
          </a:p>
        </p:txBody>
      </p:sp>
      <p:sp>
        <p:nvSpPr>
          <p:cNvPr id="38" name="Shape 28"/>
          <p:cNvSpPr/>
          <p:nvPr/>
        </p:nvSpPr>
        <p:spPr>
          <a:xfrm>
            <a:off x="390144" y="3940241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12" y="4020709"/>
            <a:ext cx="204825" cy="20482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3440" y="3940241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noProof="0" dirty="0"/>
          </a:p>
        </p:txBody>
      </p:sp>
      <p:sp>
        <p:nvSpPr>
          <p:cNvPr id="44" name="Shape 32"/>
          <p:cNvSpPr/>
          <p:nvPr/>
        </p:nvSpPr>
        <p:spPr>
          <a:xfrm>
            <a:off x="390144" y="4964369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2" y="5044837"/>
            <a:ext cx="204825" cy="204825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53440" y="4964369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bank-to-ERP feedback — bank statements downloaded and then uploaded daily in BC</a:t>
            </a:r>
            <a:endParaRPr lang="en-US" sz="1000" noProof="0" dirty="0"/>
          </a:p>
        </p:txBody>
      </p:sp>
      <p:sp>
        <p:nvSpPr>
          <p:cNvPr id="47" name="Shape 34"/>
          <p:cNvSpPr/>
          <p:nvPr/>
        </p:nvSpPr>
        <p:spPr>
          <a:xfrm>
            <a:off x="390144" y="4452305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612" y="4532773"/>
            <a:ext cx="204825" cy="204825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853440" y="4452305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system-based invoice intake</a:t>
            </a:r>
            <a:endParaRPr lang="en-US" sz="1000" noProof="0" dirty="0"/>
          </a:p>
        </p:txBody>
      </p:sp>
      <p:sp>
        <p:nvSpPr>
          <p:cNvPr id="50" name="Shape 36"/>
          <p:cNvSpPr/>
          <p:nvPr/>
        </p:nvSpPr>
        <p:spPr>
          <a:xfrm>
            <a:off x="6217920" y="3391601"/>
            <a:ext cx="5730240" cy="235266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254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1" name="Shape 37"/>
          <p:cNvSpPr/>
          <p:nvPr/>
        </p:nvSpPr>
        <p:spPr>
          <a:xfrm>
            <a:off x="6217920" y="3391601"/>
            <a:ext cx="5730240" cy="426720"/>
          </a:xfrm>
          <a:prstGeom prst="rect">
            <a:avLst/>
          </a:prstGeom>
          <a:solidFill>
            <a:srgbClr val="A3403A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2" name="Text 38"/>
          <p:cNvSpPr/>
          <p:nvPr/>
        </p:nvSpPr>
        <p:spPr>
          <a:xfrm>
            <a:off x="6339840" y="3440369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Compliance Gaps</a:t>
            </a:r>
            <a:endParaRPr lang="en-US" sz="1333" noProof="0" dirty="0"/>
          </a:p>
        </p:txBody>
      </p:sp>
      <p:sp>
        <p:nvSpPr>
          <p:cNvPr id="53" name="Shape 39"/>
          <p:cNvSpPr/>
          <p:nvPr/>
        </p:nvSpPr>
        <p:spPr>
          <a:xfrm>
            <a:off x="6364224" y="3940241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4692" y="4020709"/>
            <a:ext cx="204825" cy="204825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827520" y="3940241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evidence is not system-captured – weak audit trail </a:t>
            </a:r>
            <a:endParaRPr lang="en-US" sz="1000" noProof="0" dirty="0"/>
          </a:p>
        </p:txBody>
      </p:sp>
      <p:sp>
        <p:nvSpPr>
          <p:cNvPr id="56" name="Shape 41"/>
          <p:cNvSpPr/>
          <p:nvPr/>
        </p:nvSpPr>
        <p:spPr>
          <a:xfrm>
            <a:off x="6364224" y="4452305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692" y="4532773"/>
            <a:ext cx="204825" cy="204825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827520" y="4452305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/>
              <a:t>Supporting data is not system linked end to end across approval, ERP entry, and payment</a:t>
            </a:r>
          </a:p>
        </p:txBody>
      </p:sp>
      <p:sp>
        <p:nvSpPr>
          <p:cNvPr id="59" name="Shape 43"/>
          <p:cNvSpPr/>
          <p:nvPr/>
        </p:nvSpPr>
        <p:spPr>
          <a:xfrm>
            <a:off x="6364224" y="4964369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692" y="5044837"/>
            <a:ext cx="204825" cy="204825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6827520" y="4964369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quality issues rely on manual detection – no automated data validation or standardized data quality checks</a:t>
            </a:r>
            <a:endParaRPr lang="en-US" sz="1000" noProof="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6359299D-F642-3E4E-0E38-553767CE2103}"/>
              </a:ext>
            </a:extLst>
          </p:cNvPr>
          <p:cNvSpPr/>
          <p:nvPr/>
        </p:nvSpPr>
        <p:spPr>
          <a:xfrm>
            <a:off x="6381133" y="2678554"/>
            <a:ext cx="365760" cy="365760"/>
          </a:xfrm>
          <a:prstGeom prst="ellipse">
            <a:avLst/>
          </a:prstGeom>
          <a:solidFill>
            <a:srgbClr val="FDF0EE"/>
          </a:solidFill>
          <a:ln/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76B7A58E-F310-4DC8-61A2-288DFE048C57}"/>
              </a:ext>
            </a:extLst>
          </p:cNvPr>
          <p:cNvSpPr/>
          <p:nvPr/>
        </p:nvSpPr>
        <p:spPr>
          <a:xfrm>
            <a:off x="6844429" y="267855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approval is lengthy and manual due to long review process </a:t>
            </a:r>
            <a:endParaRPr lang="en-US" sz="1000" noProof="0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23A3AC17-D5D7-602A-9D73-29F3FB1B5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369" y="2752285"/>
            <a:ext cx="204825" cy="204825"/>
          </a:xfrm>
          <a:prstGeom prst="rect">
            <a:avLst/>
          </a:prstGeom>
        </p:spPr>
      </p:pic>
      <p:sp>
        <p:nvSpPr>
          <p:cNvPr id="64" name="Text 35">
            <a:extLst>
              <a:ext uri="{FF2B5EF4-FFF2-40B4-BE49-F238E27FC236}">
                <a16:creationId xmlns:a16="http://schemas.microsoft.com/office/drawing/2014/main" id="{4FAFE5BB-7F9F-B0B9-045F-0A1D4984ED8C}"/>
              </a:ext>
            </a:extLst>
          </p:cNvPr>
          <p:cNvSpPr/>
          <p:nvPr/>
        </p:nvSpPr>
        <p:spPr>
          <a:xfrm>
            <a:off x="853440" y="3903665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is not functioning as an approval workflow system – less automation and controls</a:t>
            </a:r>
            <a:endParaRPr lang="en-US" sz="1000" noProof="0" dirty="0"/>
          </a:p>
        </p:txBody>
      </p:sp>
      <p:sp>
        <p:nvSpPr>
          <p:cNvPr id="65" name="Text 44">
            <a:extLst>
              <a:ext uri="{FF2B5EF4-FFF2-40B4-BE49-F238E27FC236}">
                <a16:creationId xmlns:a16="http://schemas.microsoft.com/office/drawing/2014/main" id="{68A0F8AD-0FE0-6967-D0E0-6C3B27A83530}"/>
              </a:ext>
            </a:extLst>
          </p:cNvPr>
          <p:cNvSpPr/>
          <p:nvPr/>
        </p:nvSpPr>
        <p:spPr>
          <a:xfrm>
            <a:off x="243840" y="5972249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i="1" dirty="0">
                <a:solidFill>
                  <a:srgbClr val="2B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 is beginning a project that will automate the first 3 steps of the AP process, as well as integrate an approval workflow into the ERP. Since Q3 2025, all local invoices must go through a government electronic invoicing system (FNE). Today, suppliers submit invoices into FNE – print them – and physically deliver them. The project aims to download these invoices directly from FNE on a daily basis into the ERP. As part of the project, the approval workflow will move into the ERP.</a:t>
            </a:r>
            <a:endParaRPr lang="en-US" sz="1050" b="1" i="1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E3E0FE5A4F4B42B8F13987D4AC0E03" ma:contentTypeVersion="14" ma:contentTypeDescription="Create a new document." ma:contentTypeScope="" ma:versionID="32325baf91998b6966dce3f1ca4a6dc9">
  <xsd:schema xmlns:xsd="http://www.w3.org/2001/XMLSchema" xmlns:xs="http://www.w3.org/2001/XMLSchema" xmlns:p="http://schemas.microsoft.com/office/2006/metadata/properties" xmlns:ns2="f056b49d-f388-4507-bfe7-6222449188ac" xmlns:ns3="75eec038-2a5d-428c-b652-ebdf19a03045" targetNamespace="http://schemas.microsoft.com/office/2006/metadata/properties" ma:root="true" ma:fieldsID="0d41d3f4a86a682015509c65ade5eb98" ns2:_="" ns3:_="">
    <xsd:import namespace="f056b49d-f388-4507-bfe7-6222449188ac"/>
    <xsd:import namespace="75eec038-2a5d-428c-b652-ebdf19a030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6b49d-f388-4507-bfe7-6222449188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cc9fd06-0adc-4013-a360-dc11143f06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ec038-2a5d-428c-b652-ebdf19a0304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951d3b9-bde2-4de7-aee2-b0286d80395a}" ma:internalName="TaxCatchAll" ma:showField="CatchAllData" ma:web="75eec038-2a5d-428c-b652-ebdf19a030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eec038-2a5d-428c-b652-ebdf19a03045" xsi:nil="true"/>
    <lcf76f155ced4ddcb4097134ff3c332f xmlns="f056b49d-f388-4507-bfe7-6222449188a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BA14A1-E7B8-4AA7-80D8-6D38DE9F4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56b49d-f388-4507-bfe7-6222449188ac"/>
    <ds:schemaRef ds:uri="75eec038-2a5d-428c-b652-ebdf19a030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55CC12-8CA2-44AE-A359-2A5B1B8DF609}">
  <ds:schemaRefs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75eec038-2a5d-428c-b652-ebdf19a03045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056b49d-f388-4507-bfe7-6222449188ac"/>
  </ds:schemaRefs>
</ds:datastoreItem>
</file>

<file path=customXml/itemProps3.xml><?xml version="1.0" encoding="utf-8"?>
<ds:datastoreItem xmlns:ds="http://schemas.openxmlformats.org/officeDocument/2006/customXml" ds:itemID="{88BD00BA-6A6F-4677-B640-D1D3F7458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3992</TotalTime>
  <Words>658</Words>
  <Application>Microsoft Office PowerPoint</Application>
  <PresentationFormat>Widescreen</PresentationFormat>
  <Paragraphs>88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Panama AP Process Flow</dc:title>
  <dc:subject>PptxGenJS Presentation</dc:subject>
  <dc:creator>Treasury</dc:creator>
  <cp:lastModifiedBy>Warner, Ashley</cp:lastModifiedBy>
  <cp:revision>16</cp:revision>
  <dcterms:created xsi:type="dcterms:W3CDTF">2026-02-23T02:27:29Z</dcterms:created>
  <dcterms:modified xsi:type="dcterms:W3CDTF">2026-03-20T11:03:49Z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0x0101008DE3E0FE5A4F4B42B8F13987D4AC0E03</vt:lpwstr>
  </property>
  <property fmtid="{D5CDD505-2E9C-101B-9397-08002B2CF9AE}" pid="3" name="MediaServiceImageTags">
    <vt:lpwstr/>
  </property>
</Properties>
</file>