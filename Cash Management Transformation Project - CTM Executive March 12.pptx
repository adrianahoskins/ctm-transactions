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78" r:id="rId5"/>
    <p:sldId id="285" r:id="rId6"/>
    <p:sldId id="263" r:id="rId7"/>
    <p:sldId id="268" r:id="rId8"/>
    <p:sldId id="282" r:id="rId9"/>
    <p:sldId id="281" r:id="rId10"/>
    <p:sldId id="28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4DD7294-AF95-4EF6-BE47-D34A54849265}" name="Alsina, Matias" initials="AM" userId="S::matias.alsina@seaboardcorp.com::9358c409-8162-47f3-bcba-420783be213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3A54"/>
    <a:srgbClr val="1A1A1A"/>
    <a:srgbClr val="1B2A4A"/>
    <a:srgbClr val="C9A84C"/>
    <a:srgbClr val="18154C"/>
    <a:srgbClr val="998A5B"/>
    <a:srgbClr val="5C6BC0"/>
    <a:srgbClr val="E8963E"/>
    <a:srgbClr val="0F8B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C6C4CD-724F-4F94-B2C1-F0C8D15A7188}" v="27" dt="2026-03-13T21:56:26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366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4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6FAF9-C0EA-ACEB-7503-12B9B0F09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8AEC3-2BDF-8A4E-BD17-178CE0DD0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87DD3-0C97-3E07-2617-FC9B9133E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CF637-13A6-C78C-CC14-6AC5F24505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58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B3DC-6B51-19A5-341C-2FA44BD6E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D66D2-8BDD-6C39-3B81-4875C892C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275C4-9D29-A15B-31B6-DA1387D99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3AE9F-61C4-E372-6DF0-BB5394224F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83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7F2B0-2223-8B60-8AF9-55B5D2824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9F835-6700-B0B8-7120-9992E4F6D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77DEA-7048-04A5-5CA5-9D8F678A3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A13F1-75F0-1707-DEA0-3B9FEB5806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85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5EEDE-DC77-38BB-DDB1-66206EB65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EE6B5-FFAF-C0B6-9059-1EC5DD3B8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F00FD-6136-2309-7F27-3E9D078C8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AACEC-52E7-1C5B-EA8A-658472060F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00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DDCCF-DED2-6D1A-4194-F6D31E073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19A9-5EDB-4D99-AF10-498FA922FBCF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C7962-CE59-68CC-166F-6B531C561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9CE06-DB37-B838-EE9A-201A0037D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D340-934D-4317-8E46-63EA483DF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42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svg"/><Relationship Id="rId19" Type="http://schemas.openxmlformats.org/officeDocument/2006/relationships/image" Target="../media/image35.png"/><Relationship Id="rId4" Type="http://schemas.openxmlformats.org/officeDocument/2006/relationships/image" Target="../media/image20.emf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7A2EE41-5BF1-4936-893A-585F6509B719}"/>
              </a:ext>
            </a:extLst>
          </p:cNvPr>
          <p:cNvSpPr/>
          <p:nvPr/>
        </p:nvSpPr>
        <p:spPr>
          <a:xfrm>
            <a:off x="0" y="0"/>
            <a:ext cx="12192000" cy="6278880"/>
          </a:xfrm>
          <a:prstGeom prst="rect">
            <a:avLst/>
          </a:prstGeom>
          <a:solidFill>
            <a:srgbClr val="1B2A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24393" y="0"/>
            <a:ext cx="36576" cy="68580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609600" y="548640"/>
            <a:ext cx="731520" cy="4876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09600" y="853440"/>
            <a:ext cx="755904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53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CTM Cash Management Transformation Project</a:t>
            </a:r>
            <a:endParaRPr lang="en-US" sz="5300" dirty="0">
              <a:latin typeface="Trebuchet M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3474720"/>
            <a:ext cx="3413760" cy="4876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09600" y="4937760"/>
            <a:ext cx="7559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0" y="6278880"/>
            <a:ext cx="12192000" cy="579120"/>
          </a:xfrm>
          <a:prstGeom prst="rect">
            <a:avLst/>
          </a:prstGeom>
          <a:solidFill>
            <a:srgbClr val="151E3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0" y="6278880"/>
            <a:ext cx="73152" cy="5791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9144000" y="6339840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33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5278F5-67F4-AEB7-85C9-A0EF6A6F398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B1F2D"/>
              </a:clrFrom>
              <a:clrTo>
                <a:srgbClr val="1B1F2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09174" y="91440"/>
            <a:ext cx="1915678" cy="5867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FF7A7-4352-876D-3708-292A3EB5C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88BC3F1E-1D3F-CE7B-D693-CBBBCD0C9DAD}"/>
              </a:ext>
            </a:extLst>
          </p:cNvPr>
          <p:cNvSpPr/>
          <p:nvPr/>
        </p:nvSpPr>
        <p:spPr>
          <a:xfrm>
            <a:off x="0" y="7620"/>
            <a:ext cx="1220724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1">
            <a:extLst>
              <a:ext uri="{FF2B5EF4-FFF2-40B4-BE49-F238E27FC236}">
                <a16:creationId xmlns:a16="http://schemas.microsoft.com/office/drawing/2014/main" id="{284245F3-02EC-3B3C-0567-FF9E6DD45C4C}"/>
              </a:ext>
            </a:extLst>
          </p:cNvPr>
          <p:cNvSpPr/>
          <p:nvPr/>
        </p:nvSpPr>
        <p:spPr>
          <a:xfrm>
            <a:off x="106680" y="14630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Banking Operational Overview and 2025 Metrics </a:t>
            </a:r>
            <a:endParaRPr lang="en-US" sz="1000" b="1" dirty="0">
              <a:solidFill>
                <a:srgbClr val="FFFFFF"/>
              </a:solidFill>
              <a:latin typeface="Trebuchet MS"/>
              <a:ea typeface="Trebuchet MS" pitchFamily="34" charset="-122"/>
              <a:cs typeface="Trebuchet MS" pitchFamily="34" charset="-120"/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E75DE44-973B-8986-B6A3-A45CA7708E93}"/>
              </a:ext>
            </a:extLst>
          </p:cNvPr>
          <p:cNvGrpSpPr/>
          <p:nvPr/>
        </p:nvGrpSpPr>
        <p:grpSpPr>
          <a:xfrm>
            <a:off x="4555863" y="1347077"/>
            <a:ext cx="1463040" cy="1828800"/>
            <a:chOff x="2295525" y="4160520"/>
            <a:chExt cx="1463040" cy="1828800"/>
          </a:xfrm>
        </p:grpSpPr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A2A307D0-47BB-AE7F-C402-5C3C8F5F6C9E}"/>
                </a:ext>
              </a:extLst>
            </p:cNvPr>
            <p:cNvSpPr/>
            <p:nvPr/>
          </p:nvSpPr>
          <p:spPr>
            <a:xfrm>
              <a:off x="2295525" y="4160520"/>
              <a:ext cx="1463040" cy="18288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3">
              <a:extLst>
                <a:ext uri="{FF2B5EF4-FFF2-40B4-BE49-F238E27FC236}">
                  <a16:creationId xmlns:a16="http://schemas.microsoft.com/office/drawing/2014/main" id="{A2E25FB0-5DAD-6AEE-1046-FD17AA2D8DAC}"/>
                </a:ext>
              </a:extLst>
            </p:cNvPr>
            <p:cNvSpPr/>
            <p:nvPr/>
          </p:nvSpPr>
          <p:spPr>
            <a:xfrm>
              <a:off x="2295525" y="4160520"/>
              <a:ext cx="1463040" cy="45720"/>
            </a:xfrm>
            <a:prstGeom prst="rect">
              <a:avLst/>
            </a:prstGeom>
            <a:solidFill>
              <a:srgbClr val="7C5CB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4">
              <a:extLst>
                <a:ext uri="{FF2B5EF4-FFF2-40B4-BE49-F238E27FC236}">
                  <a16:creationId xmlns:a16="http://schemas.microsoft.com/office/drawing/2014/main" id="{9B69DC99-6044-9CF7-199B-7892C3488665}"/>
                </a:ext>
              </a:extLst>
            </p:cNvPr>
            <p:cNvSpPr/>
            <p:nvPr/>
          </p:nvSpPr>
          <p:spPr>
            <a:xfrm>
              <a:off x="2798445" y="4389120"/>
              <a:ext cx="457200" cy="457200"/>
            </a:xfrm>
            <a:prstGeom prst="ellipse">
              <a:avLst/>
            </a:prstGeom>
            <a:solidFill>
              <a:srgbClr val="7C5CBF">
                <a:alpha val="15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1" name="Image 0">
              <a:extLst>
                <a:ext uri="{FF2B5EF4-FFF2-40B4-BE49-F238E27FC236}">
                  <a16:creationId xmlns:a16="http://schemas.microsoft.com/office/drawing/2014/main" id="{199534A1-33D3-C331-E038-0E63643EF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9885" y="4480560"/>
              <a:ext cx="274320" cy="274320"/>
            </a:xfrm>
            <a:prstGeom prst="rect">
              <a:avLst/>
            </a:prstGeom>
          </p:spPr>
        </p:pic>
        <p:sp>
          <p:nvSpPr>
            <p:cNvPr id="22" name="Text 5">
              <a:extLst>
                <a:ext uri="{FF2B5EF4-FFF2-40B4-BE49-F238E27FC236}">
                  <a16:creationId xmlns:a16="http://schemas.microsoft.com/office/drawing/2014/main" id="{265424AA-18A5-08DB-70B2-84D381307344}"/>
                </a:ext>
              </a:extLst>
            </p:cNvPr>
            <p:cNvSpPr/>
            <p:nvPr/>
          </p:nvSpPr>
          <p:spPr>
            <a:xfrm>
              <a:off x="2295525" y="4937760"/>
              <a:ext cx="14630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3600" b="1" dirty="0">
                  <a:solidFill>
                    <a:srgbClr val="1A1A1A"/>
                  </a:solidFill>
                  <a:latin typeface="Georgia" pitchFamily="34" charset="0"/>
                </a:rPr>
                <a:t>170</a:t>
              </a:r>
              <a:endParaRPr lang="en-US" sz="3600" dirty="0"/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4857E841-BFF1-75B3-68E5-EB6F12123E01}"/>
                </a:ext>
              </a:extLst>
            </p:cNvPr>
            <p:cNvSpPr/>
            <p:nvPr/>
          </p:nvSpPr>
          <p:spPr>
            <a:xfrm>
              <a:off x="2295525" y="5532120"/>
              <a:ext cx="1463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900" b="1" kern="0" spc="80" dirty="0">
                  <a:solidFill>
                    <a:srgbClr val="7A8A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ACTIVE ACCOUNTS</a:t>
              </a:r>
              <a:endParaRPr lang="en-US" sz="900" dirty="0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4FC854E-FE1E-BFEF-7AF8-A3223AE90941}"/>
              </a:ext>
            </a:extLst>
          </p:cNvPr>
          <p:cNvGrpSpPr/>
          <p:nvPr/>
        </p:nvGrpSpPr>
        <p:grpSpPr>
          <a:xfrm>
            <a:off x="1099685" y="1356936"/>
            <a:ext cx="1463040" cy="1828800"/>
            <a:chOff x="518160" y="950928"/>
            <a:chExt cx="1463040" cy="1828800"/>
          </a:xfrm>
        </p:grpSpPr>
        <p:sp>
          <p:nvSpPr>
            <p:cNvPr id="24" name="Shape 7">
              <a:extLst>
                <a:ext uri="{FF2B5EF4-FFF2-40B4-BE49-F238E27FC236}">
                  <a16:creationId xmlns:a16="http://schemas.microsoft.com/office/drawing/2014/main" id="{6CE85D3A-DDA2-5BED-4C3B-92452AADCFED}"/>
                </a:ext>
              </a:extLst>
            </p:cNvPr>
            <p:cNvSpPr/>
            <p:nvPr/>
          </p:nvSpPr>
          <p:spPr>
            <a:xfrm>
              <a:off x="518160" y="950928"/>
              <a:ext cx="1463040" cy="18288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8">
              <a:extLst>
                <a:ext uri="{FF2B5EF4-FFF2-40B4-BE49-F238E27FC236}">
                  <a16:creationId xmlns:a16="http://schemas.microsoft.com/office/drawing/2014/main" id="{05D207A9-5CC1-B7A1-2A23-3E9712A085D9}"/>
                </a:ext>
              </a:extLst>
            </p:cNvPr>
            <p:cNvSpPr/>
            <p:nvPr/>
          </p:nvSpPr>
          <p:spPr>
            <a:xfrm>
              <a:off x="518160" y="950928"/>
              <a:ext cx="1463040" cy="45720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9">
              <a:extLst>
                <a:ext uri="{FF2B5EF4-FFF2-40B4-BE49-F238E27FC236}">
                  <a16:creationId xmlns:a16="http://schemas.microsoft.com/office/drawing/2014/main" id="{E56E12A0-C0CE-D70E-1B25-6C15B27ADB0C}"/>
                </a:ext>
              </a:extLst>
            </p:cNvPr>
            <p:cNvSpPr/>
            <p:nvPr/>
          </p:nvSpPr>
          <p:spPr>
            <a:xfrm>
              <a:off x="1021080" y="1179528"/>
              <a:ext cx="457200" cy="457200"/>
            </a:xfrm>
            <a:prstGeom prst="ellipse">
              <a:avLst/>
            </a:prstGeom>
            <a:solidFill>
              <a:srgbClr val="C0392B">
                <a:alpha val="15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8" name="Image 1">
              <a:extLst>
                <a:ext uri="{FF2B5EF4-FFF2-40B4-BE49-F238E27FC236}">
                  <a16:creationId xmlns:a16="http://schemas.microsoft.com/office/drawing/2014/main" id="{93FE0D18-726F-2EDB-32F3-DFB9591A9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2520" y="1270968"/>
              <a:ext cx="274320" cy="274320"/>
            </a:xfrm>
            <a:prstGeom prst="rect">
              <a:avLst/>
            </a:prstGeom>
          </p:spPr>
        </p:pic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3BADEC75-DD4E-1134-A9C9-54945DB6D0B7}"/>
                </a:ext>
              </a:extLst>
            </p:cNvPr>
            <p:cNvSpPr/>
            <p:nvPr/>
          </p:nvSpPr>
          <p:spPr>
            <a:xfrm>
              <a:off x="518160" y="1728168"/>
              <a:ext cx="14630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3600" b="1" dirty="0">
                  <a:solidFill>
                    <a:srgbClr val="1A1A1A"/>
                  </a:solidFill>
                  <a:latin typeface="Georgia" pitchFamily="34" charset="0"/>
                </a:rPr>
                <a:t>32</a:t>
              </a:r>
              <a:endParaRPr lang="en-US" sz="3600" dirty="0"/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EEAB88A0-2CC3-EBF3-104D-E8812F55C907}"/>
                </a:ext>
              </a:extLst>
            </p:cNvPr>
            <p:cNvSpPr/>
            <p:nvPr/>
          </p:nvSpPr>
          <p:spPr>
            <a:xfrm>
              <a:off x="518160" y="2322528"/>
              <a:ext cx="1463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900" b="1" kern="0" spc="80" dirty="0">
                  <a:solidFill>
                    <a:srgbClr val="7A8A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LEGAL ENTITIES WITH ACCOUNTS</a:t>
              </a:r>
              <a:endParaRPr lang="en-US" sz="900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89E45EF-D10A-FF80-7EF5-B612B4A9CF75}"/>
              </a:ext>
            </a:extLst>
          </p:cNvPr>
          <p:cNvGrpSpPr/>
          <p:nvPr/>
        </p:nvGrpSpPr>
        <p:grpSpPr>
          <a:xfrm>
            <a:off x="7966448" y="1358507"/>
            <a:ext cx="1463040" cy="1828800"/>
            <a:chOff x="5364480" y="2514600"/>
            <a:chExt cx="1463040" cy="1828800"/>
          </a:xfrm>
        </p:grpSpPr>
        <p:sp>
          <p:nvSpPr>
            <p:cNvPr id="35" name="Shape 12">
              <a:extLst>
                <a:ext uri="{FF2B5EF4-FFF2-40B4-BE49-F238E27FC236}">
                  <a16:creationId xmlns:a16="http://schemas.microsoft.com/office/drawing/2014/main" id="{11302F76-391B-DF6C-BA21-8F38A41BA5D5}"/>
                </a:ext>
              </a:extLst>
            </p:cNvPr>
            <p:cNvSpPr/>
            <p:nvPr/>
          </p:nvSpPr>
          <p:spPr>
            <a:xfrm>
              <a:off x="5364480" y="2514600"/>
              <a:ext cx="1463040" cy="18288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13">
              <a:extLst>
                <a:ext uri="{FF2B5EF4-FFF2-40B4-BE49-F238E27FC236}">
                  <a16:creationId xmlns:a16="http://schemas.microsoft.com/office/drawing/2014/main" id="{5662E5D4-FE29-1DC0-C043-E6C7FB3B91E5}"/>
                </a:ext>
              </a:extLst>
            </p:cNvPr>
            <p:cNvSpPr/>
            <p:nvPr/>
          </p:nvSpPr>
          <p:spPr>
            <a:xfrm>
              <a:off x="5364480" y="2514600"/>
              <a:ext cx="1463040" cy="45720"/>
            </a:xfrm>
            <a:prstGeom prst="rect">
              <a:avLst/>
            </a:prstGeom>
            <a:solidFill>
              <a:srgbClr val="1A8A6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14">
              <a:extLst>
                <a:ext uri="{FF2B5EF4-FFF2-40B4-BE49-F238E27FC236}">
                  <a16:creationId xmlns:a16="http://schemas.microsoft.com/office/drawing/2014/main" id="{17E6AD23-74E1-2693-33F7-61A17AE6EBEF}"/>
                </a:ext>
              </a:extLst>
            </p:cNvPr>
            <p:cNvSpPr/>
            <p:nvPr/>
          </p:nvSpPr>
          <p:spPr>
            <a:xfrm>
              <a:off x="5867400" y="2743200"/>
              <a:ext cx="457200" cy="457200"/>
            </a:xfrm>
            <a:prstGeom prst="ellipse">
              <a:avLst/>
            </a:prstGeom>
            <a:solidFill>
              <a:srgbClr val="1A8A6A">
                <a:alpha val="15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41" name="Image 2">
              <a:extLst>
                <a:ext uri="{FF2B5EF4-FFF2-40B4-BE49-F238E27FC236}">
                  <a16:creationId xmlns:a16="http://schemas.microsoft.com/office/drawing/2014/main" id="{BCC38EA8-90EF-464E-C873-ABD660413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58840" y="2834640"/>
              <a:ext cx="274320" cy="274320"/>
            </a:xfrm>
            <a:prstGeom prst="rect">
              <a:avLst/>
            </a:prstGeom>
          </p:spPr>
        </p:pic>
        <p:sp>
          <p:nvSpPr>
            <p:cNvPr id="42" name="Text 15">
              <a:extLst>
                <a:ext uri="{FF2B5EF4-FFF2-40B4-BE49-F238E27FC236}">
                  <a16:creationId xmlns:a16="http://schemas.microsoft.com/office/drawing/2014/main" id="{58CE3969-8EC0-687A-CCB4-5697066E0DC1}"/>
                </a:ext>
              </a:extLst>
            </p:cNvPr>
            <p:cNvSpPr/>
            <p:nvPr/>
          </p:nvSpPr>
          <p:spPr>
            <a:xfrm>
              <a:off x="5364480" y="3291840"/>
              <a:ext cx="14630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3600" b="1" dirty="0">
                  <a:solidFill>
                    <a:srgbClr val="1A1A1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48</a:t>
              </a:r>
              <a:endParaRPr lang="en-US" sz="3600" dirty="0"/>
            </a:p>
          </p:txBody>
        </p:sp>
        <p:sp>
          <p:nvSpPr>
            <p:cNvPr id="43" name="Text 16">
              <a:extLst>
                <a:ext uri="{FF2B5EF4-FFF2-40B4-BE49-F238E27FC236}">
                  <a16:creationId xmlns:a16="http://schemas.microsoft.com/office/drawing/2014/main" id="{7C58CDFB-967C-479D-6F37-288E4D59899F}"/>
                </a:ext>
              </a:extLst>
            </p:cNvPr>
            <p:cNvSpPr/>
            <p:nvPr/>
          </p:nvSpPr>
          <p:spPr>
            <a:xfrm>
              <a:off x="5364480" y="3886200"/>
              <a:ext cx="1463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900" b="1" kern="0" spc="80" dirty="0">
                  <a:solidFill>
                    <a:srgbClr val="7A8A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BANKING RELATIONSHIPS</a:t>
              </a:r>
              <a:endParaRPr lang="en-US" sz="900" dirty="0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EF20EE5-5086-E869-6D61-2E3F3298347A}"/>
              </a:ext>
            </a:extLst>
          </p:cNvPr>
          <p:cNvGrpSpPr/>
          <p:nvPr/>
        </p:nvGrpSpPr>
        <p:grpSpPr>
          <a:xfrm>
            <a:off x="6229342" y="1353840"/>
            <a:ext cx="1463040" cy="1828800"/>
            <a:chOff x="7056120" y="2514600"/>
            <a:chExt cx="1463040" cy="1828800"/>
          </a:xfrm>
        </p:grpSpPr>
        <p:sp>
          <p:nvSpPr>
            <p:cNvPr id="78" name="Shape 17">
              <a:extLst>
                <a:ext uri="{FF2B5EF4-FFF2-40B4-BE49-F238E27FC236}">
                  <a16:creationId xmlns:a16="http://schemas.microsoft.com/office/drawing/2014/main" id="{A64CEFBE-1783-2263-1112-A3C2E04FB515}"/>
                </a:ext>
              </a:extLst>
            </p:cNvPr>
            <p:cNvSpPr/>
            <p:nvPr/>
          </p:nvSpPr>
          <p:spPr>
            <a:xfrm>
              <a:off x="7056120" y="2514600"/>
              <a:ext cx="1463040" cy="18288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Shape 18">
              <a:extLst>
                <a:ext uri="{FF2B5EF4-FFF2-40B4-BE49-F238E27FC236}">
                  <a16:creationId xmlns:a16="http://schemas.microsoft.com/office/drawing/2014/main" id="{66F814C7-C1E7-569F-A8C8-CCDA0D5C4988}"/>
                </a:ext>
              </a:extLst>
            </p:cNvPr>
            <p:cNvSpPr/>
            <p:nvPr/>
          </p:nvSpPr>
          <p:spPr>
            <a:xfrm>
              <a:off x="7056120" y="2514600"/>
              <a:ext cx="1463040" cy="45720"/>
            </a:xfrm>
            <a:prstGeom prst="rect">
              <a:avLst/>
            </a:prstGeom>
            <a:solidFill>
              <a:srgbClr val="D4930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Shape 19">
              <a:extLst>
                <a:ext uri="{FF2B5EF4-FFF2-40B4-BE49-F238E27FC236}">
                  <a16:creationId xmlns:a16="http://schemas.microsoft.com/office/drawing/2014/main" id="{562075B6-340E-45C8-D6F1-29DED636D1DD}"/>
                </a:ext>
              </a:extLst>
            </p:cNvPr>
            <p:cNvSpPr/>
            <p:nvPr/>
          </p:nvSpPr>
          <p:spPr>
            <a:xfrm>
              <a:off x="7559040" y="2743200"/>
              <a:ext cx="457200" cy="457200"/>
            </a:xfrm>
            <a:prstGeom prst="ellipse">
              <a:avLst/>
            </a:prstGeom>
            <a:solidFill>
              <a:srgbClr val="D4930D">
                <a:alpha val="15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95" name="Image 3">
              <a:extLst>
                <a:ext uri="{FF2B5EF4-FFF2-40B4-BE49-F238E27FC236}">
                  <a16:creationId xmlns:a16="http://schemas.microsoft.com/office/drawing/2014/main" id="{EF272082-B62E-4A11-B425-490A0B550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50480" y="2834640"/>
              <a:ext cx="274320" cy="274320"/>
            </a:xfrm>
            <a:prstGeom prst="rect">
              <a:avLst/>
            </a:prstGeom>
          </p:spPr>
        </p:pic>
        <p:sp>
          <p:nvSpPr>
            <p:cNvPr id="118" name="Text 20">
              <a:extLst>
                <a:ext uri="{FF2B5EF4-FFF2-40B4-BE49-F238E27FC236}">
                  <a16:creationId xmlns:a16="http://schemas.microsoft.com/office/drawing/2014/main" id="{F33AE765-0C01-BE6C-BEF3-8B75DE00F2A2}"/>
                </a:ext>
              </a:extLst>
            </p:cNvPr>
            <p:cNvSpPr/>
            <p:nvPr/>
          </p:nvSpPr>
          <p:spPr>
            <a:xfrm>
              <a:off x="7056120" y="3291840"/>
              <a:ext cx="14630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3600" b="1" dirty="0">
                  <a:solidFill>
                    <a:srgbClr val="1A1A1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18</a:t>
              </a:r>
              <a:endParaRPr lang="en-US" sz="3600" dirty="0"/>
            </a:p>
          </p:txBody>
        </p:sp>
        <p:sp>
          <p:nvSpPr>
            <p:cNvPr id="119" name="Text 21">
              <a:extLst>
                <a:ext uri="{FF2B5EF4-FFF2-40B4-BE49-F238E27FC236}">
                  <a16:creationId xmlns:a16="http://schemas.microsoft.com/office/drawing/2014/main" id="{8A525F4B-5AA7-F279-CE19-5E5267143BC6}"/>
                </a:ext>
              </a:extLst>
            </p:cNvPr>
            <p:cNvSpPr/>
            <p:nvPr/>
          </p:nvSpPr>
          <p:spPr>
            <a:xfrm>
              <a:off x="7056120" y="3886200"/>
              <a:ext cx="1463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900" b="1" kern="0" spc="80" dirty="0">
                  <a:solidFill>
                    <a:srgbClr val="7A8A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CURRENCIES</a:t>
              </a:r>
              <a:endParaRPr lang="en-US" sz="900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FFAAE5B-3965-B1D1-E365-A4795A3F0C77}"/>
              </a:ext>
            </a:extLst>
          </p:cNvPr>
          <p:cNvGrpSpPr/>
          <p:nvPr/>
        </p:nvGrpSpPr>
        <p:grpSpPr>
          <a:xfrm>
            <a:off x="2836791" y="1347077"/>
            <a:ext cx="1463040" cy="1828800"/>
            <a:chOff x="2642235" y="944880"/>
            <a:chExt cx="1463040" cy="1828800"/>
          </a:xfrm>
        </p:grpSpPr>
        <p:sp>
          <p:nvSpPr>
            <p:cNvPr id="120" name="Shape 22">
              <a:extLst>
                <a:ext uri="{FF2B5EF4-FFF2-40B4-BE49-F238E27FC236}">
                  <a16:creationId xmlns:a16="http://schemas.microsoft.com/office/drawing/2014/main" id="{71F23A17-C2F7-0291-913E-E6DA79D1279A}"/>
                </a:ext>
              </a:extLst>
            </p:cNvPr>
            <p:cNvSpPr/>
            <p:nvPr/>
          </p:nvSpPr>
          <p:spPr>
            <a:xfrm>
              <a:off x="2642235" y="944880"/>
              <a:ext cx="1463040" cy="18288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Shape 23">
              <a:extLst>
                <a:ext uri="{FF2B5EF4-FFF2-40B4-BE49-F238E27FC236}">
                  <a16:creationId xmlns:a16="http://schemas.microsoft.com/office/drawing/2014/main" id="{FADEF314-952A-4946-3362-2DEF99EDC113}"/>
                </a:ext>
              </a:extLst>
            </p:cNvPr>
            <p:cNvSpPr/>
            <p:nvPr/>
          </p:nvSpPr>
          <p:spPr>
            <a:xfrm>
              <a:off x="2642235" y="944880"/>
              <a:ext cx="1463040" cy="45720"/>
            </a:xfrm>
            <a:prstGeom prst="rect">
              <a:avLst/>
            </a:prstGeom>
            <a:solidFill>
              <a:srgbClr val="3667A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Shape 24">
              <a:extLst>
                <a:ext uri="{FF2B5EF4-FFF2-40B4-BE49-F238E27FC236}">
                  <a16:creationId xmlns:a16="http://schemas.microsoft.com/office/drawing/2014/main" id="{5B49C181-F5FC-A8B1-F2ED-1A4A187006E3}"/>
                </a:ext>
              </a:extLst>
            </p:cNvPr>
            <p:cNvSpPr/>
            <p:nvPr/>
          </p:nvSpPr>
          <p:spPr>
            <a:xfrm>
              <a:off x="3145155" y="1173480"/>
              <a:ext cx="457200" cy="457200"/>
            </a:xfrm>
            <a:prstGeom prst="ellipse">
              <a:avLst/>
            </a:prstGeom>
            <a:solidFill>
              <a:srgbClr val="3667A6">
                <a:alpha val="15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23" name="Image 4">
              <a:extLst>
                <a:ext uri="{FF2B5EF4-FFF2-40B4-BE49-F238E27FC236}">
                  <a16:creationId xmlns:a16="http://schemas.microsoft.com/office/drawing/2014/main" id="{2B0BA7F7-CF51-22BC-CCF0-D9CEC140F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36595" y="1264920"/>
              <a:ext cx="274320" cy="274320"/>
            </a:xfrm>
            <a:prstGeom prst="rect">
              <a:avLst/>
            </a:prstGeom>
          </p:spPr>
        </p:pic>
        <p:sp>
          <p:nvSpPr>
            <p:cNvPr id="124" name="Text 25">
              <a:extLst>
                <a:ext uri="{FF2B5EF4-FFF2-40B4-BE49-F238E27FC236}">
                  <a16:creationId xmlns:a16="http://schemas.microsoft.com/office/drawing/2014/main" id="{8DD9028D-E3C0-54F8-AA9A-8F746005F569}"/>
                </a:ext>
              </a:extLst>
            </p:cNvPr>
            <p:cNvSpPr/>
            <p:nvPr/>
          </p:nvSpPr>
          <p:spPr>
            <a:xfrm>
              <a:off x="2642235" y="1722120"/>
              <a:ext cx="14630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3600" b="1" dirty="0">
                  <a:solidFill>
                    <a:srgbClr val="1A1A1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23</a:t>
              </a:r>
              <a:endParaRPr lang="en-US" sz="3600" dirty="0"/>
            </a:p>
          </p:txBody>
        </p:sp>
        <p:sp>
          <p:nvSpPr>
            <p:cNvPr id="125" name="Text 26">
              <a:extLst>
                <a:ext uri="{FF2B5EF4-FFF2-40B4-BE49-F238E27FC236}">
                  <a16:creationId xmlns:a16="http://schemas.microsoft.com/office/drawing/2014/main" id="{AFE33559-B8FE-BA3E-1A71-4B315DAA3C11}"/>
                </a:ext>
              </a:extLst>
            </p:cNvPr>
            <p:cNvSpPr/>
            <p:nvPr/>
          </p:nvSpPr>
          <p:spPr>
            <a:xfrm>
              <a:off x="2642235" y="2316480"/>
              <a:ext cx="1463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900" b="1" kern="0" spc="80" dirty="0">
                  <a:solidFill>
                    <a:srgbClr val="7A8A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COUNTRIES</a:t>
              </a:r>
              <a:endParaRPr lang="en-US" sz="900" dirty="0"/>
            </a:p>
          </p:txBody>
        </p:sp>
      </p:grpSp>
      <p:sp>
        <p:nvSpPr>
          <p:cNvPr id="180" name="Shape 2">
            <a:extLst>
              <a:ext uri="{FF2B5EF4-FFF2-40B4-BE49-F238E27FC236}">
                <a16:creationId xmlns:a16="http://schemas.microsoft.com/office/drawing/2014/main" id="{E67D0DED-2ABF-8694-B76C-F2A551C1972C}"/>
              </a:ext>
            </a:extLst>
          </p:cNvPr>
          <p:cNvSpPr/>
          <p:nvPr/>
        </p:nvSpPr>
        <p:spPr>
          <a:xfrm>
            <a:off x="575418" y="4008596"/>
            <a:ext cx="17830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1" name="Shape 3">
            <a:extLst>
              <a:ext uri="{FF2B5EF4-FFF2-40B4-BE49-F238E27FC236}">
                <a16:creationId xmlns:a16="http://schemas.microsoft.com/office/drawing/2014/main" id="{21804A77-3E08-B9E8-BF6A-FA3EBE35CFA2}"/>
              </a:ext>
            </a:extLst>
          </p:cNvPr>
          <p:cNvSpPr/>
          <p:nvPr/>
        </p:nvSpPr>
        <p:spPr>
          <a:xfrm>
            <a:off x="575418" y="4008596"/>
            <a:ext cx="1783080" cy="45720"/>
          </a:xfrm>
          <a:prstGeom prst="rect">
            <a:avLst/>
          </a:prstGeom>
          <a:solidFill>
            <a:srgbClr val="C8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4">
            <a:extLst>
              <a:ext uri="{FF2B5EF4-FFF2-40B4-BE49-F238E27FC236}">
                <a16:creationId xmlns:a16="http://schemas.microsoft.com/office/drawing/2014/main" id="{AE7BCC1D-FBB7-5431-279E-1D7EB3B241D2}"/>
              </a:ext>
            </a:extLst>
          </p:cNvPr>
          <p:cNvSpPr/>
          <p:nvPr/>
        </p:nvSpPr>
        <p:spPr>
          <a:xfrm>
            <a:off x="1146918" y="4121086"/>
            <a:ext cx="411480" cy="411480"/>
          </a:xfrm>
          <a:prstGeom prst="ellipse">
            <a:avLst/>
          </a:prstGeom>
          <a:solidFill>
            <a:srgbClr val="C8A44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3" name="Image 0">
            <a:extLst>
              <a:ext uri="{FF2B5EF4-FFF2-40B4-BE49-F238E27FC236}">
                <a16:creationId xmlns:a16="http://schemas.microsoft.com/office/drawing/2014/main" id="{99ED0B63-AE69-F2C1-81AD-57C7605B11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9214" y="4194238"/>
            <a:ext cx="256032" cy="256032"/>
          </a:xfrm>
          <a:prstGeom prst="rect">
            <a:avLst/>
          </a:prstGeom>
        </p:spPr>
      </p:pic>
      <p:sp>
        <p:nvSpPr>
          <p:cNvPr id="184" name="Text 5">
            <a:extLst>
              <a:ext uri="{FF2B5EF4-FFF2-40B4-BE49-F238E27FC236}">
                <a16:creationId xmlns:a16="http://schemas.microsoft.com/office/drawing/2014/main" id="{C5BB020D-0C6B-4C07-F350-2A0747DA3D19}"/>
              </a:ext>
            </a:extLst>
          </p:cNvPr>
          <p:cNvSpPr/>
          <p:nvPr/>
        </p:nvSpPr>
        <p:spPr>
          <a:xfrm>
            <a:off x="1073766" y="459657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</a:t>
            </a:r>
            <a:endParaRPr lang="en-US" sz="3200" dirty="0"/>
          </a:p>
        </p:txBody>
      </p:sp>
      <p:sp>
        <p:nvSpPr>
          <p:cNvPr id="185" name="Text 6">
            <a:extLst>
              <a:ext uri="{FF2B5EF4-FFF2-40B4-BE49-F238E27FC236}">
                <a16:creationId xmlns:a16="http://schemas.microsoft.com/office/drawing/2014/main" id="{B33B806F-426E-7250-9E81-5F631FDFB951}"/>
              </a:ext>
            </a:extLst>
          </p:cNvPr>
          <p:cNvSpPr/>
          <p:nvPr/>
        </p:nvSpPr>
        <p:spPr>
          <a:xfrm>
            <a:off x="879456" y="508120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kern="0" spc="60" dirty="0">
                <a:solidFill>
                  <a:srgbClr val="7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SIGNERS</a:t>
            </a:r>
            <a:endParaRPr lang="en-US" sz="850" dirty="0"/>
          </a:p>
        </p:txBody>
      </p:sp>
      <p:sp>
        <p:nvSpPr>
          <p:cNvPr id="222" name="Shape 2">
            <a:extLst>
              <a:ext uri="{FF2B5EF4-FFF2-40B4-BE49-F238E27FC236}">
                <a16:creationId xmlns:a16="http://schemas.microsoft.com/office/drawing/2014/main" id="{30EE92AC-BDE4-3A35-0814-95C7646EC0F1}"/>
              </a:ext>
            </a:extLst>
          </p:cNvPr>
          <p:cNvSpPr/>
          <p:nvPr/>
        </p:nvSpPr>
        <p:spPr>
          <a:xfrm>
            <a:off x="2491086" y="4008596"/>
            <a:ext cx="17830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3" name="Shape 3">
            <a:extLst>
              <a:ext uri="{FF2B5EF4-FFF2-40B4-BE49-F238E27FC236}">
                <a16:creationId xmlns:a16="http://schemas.microsoft.com/office/drawing/2014/main" id="{556D375C-0519-ADD6-30DC-3D0553716185}"/>
              </a:ext>
            </a:extLst>
          </p:cNvPr>
          <p:cNvSpPr/>
          <p:nvPr/>
        </p:nvSpPr>
        <p:spPr>
          <a:xfrm>
            <a:off x="2491086" y="4008596"/>
            <a:ext cx="1783080" cy="45720"/>
          </a:xfrm>
          <a:prstGeom prst="rect">
            <a:avLst/>
          </a:prstGeom>
          <a:solidFill>
            <a:srgbClr val="C8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4" name="Shape 4">
            <a:extLst>
              <a:ext uri="{FF2B5EF4-FFF2-40B4-BE49-F238E27FC236}">
                <a16:creationId xmlns:a16="http://schemas.microsoft.com/office/drawing/2014/main" id="{133BA77F-C08B-2C7A-C2D5-4788C52ACC56}"/>
              </a:ext>
            </a:extLst>
          </p:cNvPr>
          <p:cNvSpPr/>
          <p:nvPr/>
        </p:nvSpPr>
        <p:spPr>
          <a:xfrm>
            <a:off x="3062586" y="4121086"/>
            <a:ext cx="411480" cy="411480"/>
          </a:xfrm>
          <a:prstGeom prst="ellipse">
            <a:avLst/>
          </a:prstGeom>
          <a:solidFill>
            <a:srgbClr val="C8A44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5" name="Image 0">
            <a:extLst>
              <a:ext uri="{FF2B5EF4-FFF2-40B4-BE49-F238E27FC236}">
                <a16:creationId xmlns:a16="http://schemas.microsoft.com/office/drawing/2014/main" id="{42E31628-CD46-4FF2-CB49-5C9387932D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4882" y="4194238"/>
            <a:ext cx="256032" cy="256032"/>
          </a:xfrm>
          <a:prstGeom prst="rect">
            <a:avLst/>
          </a:prstGeom>
        </p:spPr>
      </p:pic>
      <p:sp>
        <p:nvSpPr>
          <p:cNvPr id="226" name="Text 5">
            <a:extLst>
              <a:ext uri="{FF2B5EF4-FFF2-40B4-BE49-F238E27FC236}">
                <a16:creationId xmlns:a16="http://schemas.microsoft.com/office/drawing/2014/main" id="{AC6930C0-9996-10DF-AE69-36F2C6D5ED17}"/>
              </a:ext>
            </a:extLst>
          </p:cNvPr>
          <p:cNvSpPr/>
          <p:nvPr/>
        </p:nvSpPr>
        <p:spPr>
          <a:xfrm>
            <a:off x="3039282" y="4610955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61</a:t>
            </a:r>
            <a:endParaRPr lang="en-US" sz="3200" dirty="0"/>
          </a:p>
        </p:txBody>
      </p:sp>
      <p:sp>
        <p:nvSpPr>
          <p:cNvPr id="227" name="Text 6">
            <a:extLst>
              <a:ext uri="{FF2B5EF4-FFF2-40B4-BE49-F238E27FC236}">
                <a16:creationId xmlns:a16="http://schemas.microsoft.com/office/drawing/2014/main" id="{C5ECD0A1-799A-06D7-1A27-12D59DBADCC7}"/>
              </a:ext>
            </a:extLst>
          </p:cNvPr>
          <p:cNvSpPr/>
          <p:nvPr/>
        </p:nvSpPr>
        <p:spPr>
          <a:xfrm>
            <a:off x="2838558" y="5077375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kern="0" spc="60" dirty="0">
                <a:solidFill>
                  <a:srgbClr val="7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UPDATES</a:t>
            </a:r>
            <a:endParaRPr lang="en-US" sz="850" dirty="0"/>
          </a:p>
        </p:txBody>
      </p:sp>
      <p:sp>
        <p:nvSpPr>
          <p:cNvPr id="229" name="Shape 8">
            <a:extLst>
              <a:ext uri="{FF2B5EF4-FFF2-40B4-BE49-F238E27FC236}">
                <a16:creationId xmlns:a16="http://schemas.microsoft.com/office/drawing/2014/main" id="{C3D56BA2-B5B5-CE24-09C1-0E5F89AE31D5}"/>
              </a:ext>
            </a:extLst>
          </p:cNvPr>
          <p:cNvSpPr/>
          <p:nvPr/>
        </p:nvSpPr>
        <p:spPr>
          <a:xfrm>
            <a:off x="4594079" y="4012311"/>
            <a:ext cx="1554480" cy="4572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0" name="Shape 9">
            <a:extLst>
              <a:ext uri="{FF2B5EF4-FFF2-40B4-BE49-F238E27FC236}">
                <a16:creationId xmlns:a16="http://schemas.microsoft.com/office/drawing/2014/main" id="{22F95301-C0BE-DF9F-C159-9E26CF894773}"/>
              </a:ext>
            </a:extLst>
          </p:cNvPr>
          <p:cNvSpPr/>
          <p:nvPr/>
        </p:nvSpPr>
        <p:spPr>
          <a:xfrm>
            <a:off x="5165579" y="4124801"/>
            <a:ext cx="411480" cy="411480"/>
          </a:xfrm>
          <a:prstGeom prst="ellipse">
            <a:avLst/>
          </a:prstGeom>
          <a:solidFill>
            <a:srgbClr val="2D6A4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2" name="Text 10">
            <a:extLst>
              <a:ext uri="{FF2B5EF4-FFF2-40B4-BE49-F238E27FC236}">
                <a16:creationId xmlns:a16="http://schemas.microsoft.com/office/drawing/2014/main" id="{9B177754-5C26-E985-DC76-E426BF88E5C6}"/>
              </a:ext>
            </a:extLst>
          </p:cNvPr>
          <p:cNvSpPr/>
          <p:nvPr/>
        </p:nvSpPr>
        <p:spPr>
          <a:xfrm>
            <a:off x="5092427" y="4600289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</a:rPr>
              <a:t>58</a:t>
            </a:r>
            <a:endParaRPr lang="en-US" sz="3200" dirty="0"/>
          </a:p>
        </p:txBody>
      </p:sp>
      <p:sp>
        <p:nvSpPr>
          <p:cNvPr id="233" name="Text 11">
            <a:extLst>
              <a:ext uri="{FF2B5EF4-FFF2-40B4-BE49-F238E27FC236}">
                <a16:creationId xmlns:a16="http://schemas.microsoft.com/office/drawing/2014/main" id="{054F0873-7F12-BEEE-464E-F59427503F22}"/>
              </a:ext>
            </a:extLst>
          </p:cNvPr>
          <p:cNvSpPr/>
          <p:nvPr/>
        </p:nvSpPr>
        <p:spPr>
          <a:xfrm>
            <a:off x="4983049" y="5088064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kern="0" spc="60" dirty="0">
                <a:solidFill>
                  <a:srgbClr val="7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PORTALS</a:t>
            </a:r>
            <a:endParaRPr lang="en-US" sz="850" dirty="0"/>
          </a:p>
        </p:txBody>
      </p:sp>
      <p:sp>
        <p:nvSpPr>
          <p:cNvPr id="234" name="Shape 12">
            <a:extLst>
              <a:ext uri="{FF2B5EF4-FFF2-40B4-BE49-F238E27FC236}">
                <a16:creationId xmlns:a16="http://schemas.microsoft.com/office/drawing/2014/main" id="{2B865924-9503-67A2-8152-413B9DA667ED}"/>
              </a:ext>
            </a:extLst>
          </p:cNvPr>
          <p:cNvSpPr/>
          <p:nvPr/>
        </p:nvSpPr>
        <p:spPr>
          <a:xfrm>
            <a:off x="6352329" y="4003028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5" name="Shape 13">
            <a:extLst>
              <a:ext uri="{FF2B5EF4-FFF2-40B4-BE49-F238E27FC236}">
                <a16:creationId xmlns:a16="http://schemas.microsoft.com/office/drawing/2014/main" id="{16536C48-B204-65C7-FB73-EA6A352ABFDC}"/>
              </a:ext>
            </a:extLst>
          </p:cNvPr>
          <p:cNvSpPr/>
          <p:nvPr/>
        </p:nvSpPr>
        <p:spPr>
          <a:xfrm>
            <a:off x="6313151" y="4012311"/>
            <a:ext cx="1554480" cy="4572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6" name="Shape 14">
            <a:extLst>
              <a:ext uri="{FF2B5EF4-FFF2-40B4-BE49-F238E27FC236}">
                <a16:creationId xmlns:a16="http://schemas.microsoft.com/office/drawing/2014/main" id="{37639D6B-E73B-F56A-11D5-F6EEF5B2E67E}"/>
              </a:ext>
            </a:extLst>
          </p:cNvPr>
          <p:cNvSpPr/>
          <p:nvPr/>
        </p:nvSpPr>
        <p:spPr>
          <a:xfrm>
            <a:off x="6475213" y="4085511"/>
            <a:ext cx="411480" cy="411480"/>
          </a:xfrm>
          <a:prstGeom prst="ellipse">
            <a:avLst/>
          </a:prstGeom>
          <a:solidFill>
            <a:srgbClr val="2D6A4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7" name="Image 2">
            <a:extLst>
              <a:ext uri="{FF2B5EF4-FFF2-40B4-BE49-F238E27FC236}">
                <a16:creationId xmlns:a16="http://schemas.microsoft.com/office/drawing/2014/main" id="{482B2334-0B45-5C3D-9D01-65F5450DB2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8657" y="4175131"/>
            <a:ext cx="256032" cy="256032"/>
          </a:xfrm>
          <a:prstGeom prst="rect">
            <a:avLst/>
          </a:prstGeom>
        </p:spPr>
      </p:pic>
      <p:sp>
        <p:nvSpPr>
          <p:cNvPr id="238" name="Text 15">
            <a:extLst>
              <a:ext uri="{FF2B5EF4-FFF2-40B4-BE49-F238E27FC236}">
                <a16:creationId xmlns:a16="http://schemas.microsoft.com/office/drawing/2014/main" id="{556B870A-4E93-4077-CECF-9E1C530954A8}"/>
              </a:ext>
            </a:extLst>
          </p:cNvPr>
          <p:cNvSpPr/>
          <p:nvPr/>
        </p:nvSpPr>
        <p:spPr>
          <a:xfrm>
            <a:off x="6811499" y="4600289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181</a:t>
            </a:r>
            <a:endParaRPr lang="en-US" sz="3200" dirty="0"/>
          </a:p>
        </p:txBody>
      </p:sp>
      <p:sp>
        <p:nvSpPr>
          <p:cNvPr id="239" name="Text 16">
            <a:extLst>
              <a:ext uri="{FF2B5EF4-FFF2-40B4-BE49-F238E27FC236}">
                <a16:creationId xmlns:a16="http://schemas.microsoft.com/office/drawing/2014/main" id="{82ADECB1-3E22-9179-BB17-FC14AC7A3D73}"/>
              </a:ext>
            </a:extLst>
          </p:cNvPr>
          <p:cNvSpPr/>
          <p:nvPr/>
        </p:nvSpPr>
        <p:spPr>
          <a:xfrm>
            <a:off x="6774923" y="506699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kern="0" spc="60" dirty="0">
                <a:solidFill>
                  <a:srgbClr val="7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USERS</a:t>
            </a:r>
            <a:endParaRPr lang="en-US" sz="850" dirty="0"/>
          </a:p>
        </p:txBody>
      </p:sp>
      <p:sp>
        <p:nvSpPr>
          <p:cNvPr id="240" name="Shape 17">
            <a:extLst>
              <a:ext uri="{FF2B5EF4-FFF2-40B4-BE49-F238E27FC236}">
                <a16:creationId xmlns:a16="http://schemas.microsoft.com/office/drawing/2014/main" id="{91FEB0F4-30DC-FA78-5860-35F3B75AB5BC}"/>
              </a:ext>
            </a:extLst>
          </p:cNvPr>
          <p:cNvSpPr/>
          <p:nvPr/>
        </p:nvSpPr>
        <p:spPr>
          <a:xfrm>
            <a:off x="8019372" y="4003028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1" name="Shape 18">
            <a:extLst>
              <a:ext uri="{FF2B5EF4-FFF2-40B4-BE49-F238E27FC236}">
                <a16:creationId xmlns:a16="http://schemas.microsoft.com/office/drawing/2014/main" id="{9CEA558F-F381-6D99-0984-B8091D63FE2F}"/>
              </a:ext>
            </a:extLst>
          </p:cNvPr>
          <p:cNvSpPr/>
          <p:nvPr/>
        </p:nvSpPr>
        <p:spPr>
          <a:xfrm>
            <a:off x="8032223" y="4012311"/>
            <a:ext cx="1554480" cy="4572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2" name="Shape 19">
            <a:extLst>
              <a:ext uri="{FF2B5EF4-FFF2-40B4-BE49-F238E27FC236}">
                <a16:creationId xmlns:a16="http://schemas.microsoft.com/office/drawing/2014/main" id="{6A365BFA-BFFA-B58A-EBF6-1DE9A8D8FE99}"/>
              </a:ext>
            </a:extLst>
          </p:cNvPr>
          <p:cNvSpPr/>
          <p:nvPr/>
        </p:nvSpPr>
        <p:spPr>
          <a:xfrm>
            <a:off x="8603723" y="4124801"/>
            <a:ext cx="411480" cy="411480"/>
          </a:xfrm>
          <a:prstGeom prst="ellipse">
            <a:avLst/>
          </a:prstGeom>
          <a:solidFill>
            <a:srgbClr val="2D6A4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3" name="Image 3">
            <a:extLst>
              <a:ext uri="{FF2B5EF4-FFF2-40B4-BE49-F238E27FC236}">
                <a16:creationId xmlns:a16="http://schemas.microsoft.com/office/drawing/2014/main" id="{DEC60C75-FCB9-824E-FEC1-D6AF8B29E4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019" y="4197953"/>
            <a:ext cx="256032" cy="256032"/>
          </a:xfrm>
          <a:prstGeom prst="rect">
            <a:avLst/>
          </a:prstGeom>
        </p:spPr>
      </p:pic>
      <p:sp>
        <p:nvSpPr>
          <p:cNvPr id="244" name="Text 20">
            <a:extLst>
              <a:ext uri="{FF2B5EF4-FFF2-40B4-BE49-F238E27FC236}">
                <a16:creationId xmlns:a16="http://schemas.microsoft.com/office/drawing/2014/main" id="{7D6C9488-41EA-3498-0C64-238243FD6364}"/>
              </a:ext>
            </a:extLst>
          </p:cNvPr>
          <p:cNvSpPr/>
          <p:nvPr/>
        </p:nvSpPr>
        <p:spPr>
          <a:xfrm>
            <a:off x="8530571" y="4600289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200" dirty="0"/>
          </a:p>
        </p:txBody>
      </p:sp>
      <p:sp>
        <p:nvSpPr>
          <p:cNvPr id="245" name="Text 21">
            <a:extLst>
              <a:ext uri="{FF2B5EF4-FFF2-40B4-BE49-F238E27FC236}">
                <a16:creationId xmlns:a16="http://schemas.microsoft.com/office/drawing/2014/main" id="{2959732E-5D48-ED8F-20DF-469BB3A93F84}"/>
              </a:ext>
            </a:extLst>
          </p:cNvPr>
          <p:cNvSpPr/>
          <p:nvPr/>
        </p:nvSpPr>
        <p:spPr>
          <a:xfrm>
            <a:off x="8302356" y="5077375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kern="0" spc="60" dirty="0">
                <a:solidFill>
                  <a:srgbClr val="7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USER UPDATES</a:t>
            </a:r>
            <a:endParaRPr lang="en-US" sz="850" dirty="0"/>
          </a:p>
        </p:txBody>
      </p:sp>
      <p:sp>
        <p:nvSpPr>
          <p:cNvPr id="246" name="Text 15">
            <a:extLst>
              <a:ext uri="{FF2B5EF4-FFF2-40B4-BE49-F238E27FC236}">
                <a16:creationId xmlns:a16="http://schemas.microsoft.com/office/drawing/2014/main" id="{A05EC44F-ADB7-A561-5F05-14D6DE0E9F6A}"/>
              </a:ext>
            </a:extLst>
          </p:cNvPr>
          <p:cNvSpPr/>
          <p:nvPr/>
        </p:nvSpPr>
        <p:spPr>
          <a:xfrm>
            <a:off x="8485236" y="46151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200" dirty="0"/>
          </a:p>
        </p:txBody>
      </p:sp>
      <p:sp>
        <p:nvSpPr>
          <p:cNvPr id="247" name="Shape 22">
            <a:extLst>
              <a:ext uri="{FF2B5EF4-FFF2-40B4-BE49-F238E27FC236}">
                <a16:creationId xmlns:a16="http://schemas.microsoft.com/office/drawing/2014/main" id="{AA739B91-5FF4-EDB2-0C4E-7C8E1890AC23}"/>
              </a:ext>
            </a:extLst>
          </p:cNvPr>
          <p:cNvSpPr/>
          <p:nvPr/>
        </p:nvSpPr>
        <p:spPr>
          <a:xfrm>
            <a:off x="9889471" y="4008596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8" name="Shape 23">
            <a:extLst>
              <a:ext uri="{FF2B5EF4-FFF2-40B4-BE49-F238E27FC236}">
                <a16:creationId xmlns:a16="http://schemas.microsoft.com/office/drawing/2014/main" id="{EF4A0C18-D8A5-17DD-6BC7-8EAC48AE5E2D}"/>
              </a:ext>
            </a:extLst>
          </p:cNvPr>
          <p:cNvSpPr/>
          <p:nvPr/>
        </p:nvSpPr>
        <p:spPr>
          <a:xfrm>
            <a:off x="9961520" y="4008596"/>
            <a:ext cx="1554480" cy="4572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9" name="Shape 24">
            <a:extLst>
              <a:ext uri="{FF2B5EF4-FFF2-40B4-BE49-F238E27FC236}">
                <a16:creationId xmlns:a16="http://schemas.microsoft.com/office/drawing/2014/main" id="{2FAB0A6A-46E2-DB34-7C0C-19080AED446F}"/>
              </a:ext>
            </a:extLst>
          </p:cNvPr>
          <p:cNvSpPr/>
          <p:nvPr/>
        </p:nvSpPr>
        <p:spPr>
          <a:xfrm>
            <a:off x="10460971" y="4121086"/>
            <a:ext cx="411480" cy="411480"/>
          </a:xfrm>
          <a:prstGeom prst="ellipse">
            <a:avLst/>
          </a:prstGeom>
          <a:solidFill>
            <a:srgbClr val="2D6A4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0" name="Image 4">
            <a:extLst>
              <a:ext uri="{FF2B5EF4-FFF2-40B4-BE49-F238E27FC236}">
                <a16:creationId xmlns:a16="http://schemas.microsoft.com/office/drawing/2014/main" id="{89F415F8-BF30-6498-6CDB-5D44064FD48F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543267" y="4194238"/>
            <a:ext cx="256032" cy="256032"/>
          </a:xfrm>
          <a:prstGeom prst="rect">
            <a:avLst/>
          </a:prstGeom>
        </p:spPr>
      </p:pic>
      <p:sp>
        <p:nvSpPr>
          <p:cNvPr id="251" name="Text 25">
            <a:extLst>
              <a:ext uri="{FF2B5EF4-FFF2-40B4-BE49-F238E27FC236}">
                <a16:creationId xmlns:a16="http://schemas.microsoft.com/office/drawing/2014/main" id="{75698061-2F20-C2F6-EA66-2430100E7E58}"/>
              </a:ext>
            </a:extLst>
          </p:cNvPr>
          <p:cNvSpPr/>
          <p:nvPr/>
        </p:nvSpPr>
        <p:spPr>
          <a:xfrm>
            <a:off x="10451910" y="4528399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200" dirty="0"/>
          </a:p>
        </p:txBody>
      </p:sp>
      <p:sp>
        <p:nvSpPr>
          <p:cNvPr id="252" name="Text 26">
            <a:extLst>
              <a:ext uri="{FF2B5EF4-FFF2-40B4-BE49-F238E27FC236}">
                <a16:creationId xmlns:a16="http://schemas.microsoft.com/office/drawing/2014/main" id="{BE82874B-926A-0834-CB1C-86601ABCC491}"/>
              </a:ext>
            </a:extLst>
          </p:cNvPr>
          <p:cNvSpPr/>
          <p:nvPr/>
        </p:nvSpPr>
        <p:spPr>
          <a:xfrm>
            <a:off x="10447969" y="5006649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kern="0" spc="60" dirty="0">
                <a:solidFill>
                  <a:srgbClr val="7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UPDATES</a:t>
            </a:r>
            <a:endParaRPr lang="en-US" sz="850" dirty="0"/>
          </a:p>
        </p:txBody>
      </p:sp>
      <p:sp>
        <p:nvSpPr>
          <p:cNvPr id="253" name="Text 15">
            <a:extLst>
              <a:ext uri="{FF2B5EF4-FFF2-40B4-BE49-F238E27FC236}">
                <a16:creationId xmlns:a16="http://schemas.microsoft.com/office/drawing/2014/main" id="{ECFC26F1-BCEB-9A51-C5C9-B018A387531C}"/>
              </a:ext>
            </a:extLst>
          </p:cNvPr>
          <p:cNvSpPr/>
          <p:nvPr/>
        </p:nvSpPr>
        <p:spPr>
          <a:xfrm>
            <a:off x="10460669" y="4528399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200" dirty="0"/>
          </a:p>
        </p:txBody>
      </p:sp>
      <p:sp>
        <p:nvSpPr>
          <p:cNvPr id="254" name="Shape 22">
            <a:extLst>
              <a:ext uri="{FF2B5EF4-FFF2-40B4-BE49-F238E27FC236}">
                <a16:creationId xmlns:a16="http://schemas.microsoft.com/office/drawing/2014/main" id="{7961B558-18DA-11F0-C1B6-F931517ED178}"/>
              </a:ext>
            </a:extLst>
          </p:cNvPr>
          <p:cNvSpPr/>
          <p:nvPr/>
        </p:nvSpPr>
        <p:spPr>
          <a:xfrm>
            <a:off x="9575792" y="1347077"/>
            <a:ext cx="1499489" cy="18089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6" name="Shape 24">
            <a:extLst>
              <a:ext uri="{FF2B5EF4-FFF2-40B4-BE49-F238E27FC236}">
                <a16:creationId xmlns:a16="http://schemas.microsoft.com/office/drawing/2014/main" id="{B3809A72-73CD-19E1-E34A-AC2F6C84CA51}"/>
              </a:ext>
            </a:extLst>
          </p:cNvPr>
          <p:cNvSpPr/>
          <p:nvPr/>
        </p:nvSpPr>
        <p:spPr>
          <a:xfrm>
            <a:off x="10150488" y="1562590"/>
            <a:ext cx="459822" cy="452247"/>
          </a:xfrm>
          <a:prstGeom prst="ellipse">
            <a:avLst/>
          </a:prstGeom>
          <a:solidFill>
            <a:srgbClr val="C0392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7" name="Image 4">
            <a:extLst>
              <a:ext uri="{FF2B5EF4-FFF2-40B4-BE49-F238E27FC236}">
                <a16:creationId xmlns:a16="http://schemas.microsoft.com/office/drawing/2014/main" id="{27A18647-D2FD-4A5F-9259-04FD3F4DF4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52951" y="1695482"/>
            <a:ext cx="286112" cy="244107"/>
          </a:xfrm>
          <a:prstGeom prst="rect">
            <a:avLst/>
          </a:prstGeom>
        </p:spPr>
      </p:pic>
      <p:sp>
        <p:nvSpPr>
          <p:cNvPr id="258" name="Text 25">
            <a:extLst>
              <a:ext uri="{FF2B5EF4-FFF2-40B4-BE49-F238E27FC236}">
                <a16:creationId xmlns:a16="http://schemas.microsoft.com/office/drawing/2014/main" id="{DF30B859-9995-35F3-19C5-62C517363F5C}"/>
              </a:ext>
            </a:extLst>
          </p:cNvPr>
          <p:cNvSpPr/>
          <p:nvPr/>
        </p:nvSpPr>
        <p:spPr>
          <a:xfrm>
            <a:off x="9776959" y="1987157"/>
            <a:ext cx="1532741" cy="552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200" dirty="0"/>
          </a:p>
        </p:txBody>
      </p:sp>
      <p:sp>
        <p:nvSpPr>
          <p:cNvPr id="259" name="Text 26">
            <a:extLst>
              <a:ext uri="{FF2B5EF4-FFF2-40B4-BE49-F238E27FC236}">
                <a16:creationId xmlns:a16="http://schemas.microsoft.com/office/drawing/2014/main" id="{CD6FA7BB-2835-AFFB-6D63-B03D37B8F0B7}"/>
              </a:ext>
            </a:extLst>
          </p:cNvPr>
          <p:cNvSpPr/>
          <p:nvPr/>
        </p:nvSpPr>
        <p:spPr>
          <a:xfrm>
            <a:off x="9871193" y="2678725"/>
            <a:ext cx="1144099" cy="401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kern="0" spc="60" dirty="0">
                <a:solidFill>
                  <a:srgbClr val="7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VISIBILITY</a:t>
            </a:r>
            <a:endParaRPr lang="en-US" sz="900" dirty="0"/>
          </a:p>
        </p:txBody>
      </p:sp>
      <p:sp>
        <p:nvSpPr>
          <p:cNvPr id="261" name="Text 15">
            <a:extLst>
              <a:ext uri="{FF2B5EF4-FFF2-40B4-BE49-F238E27FC236}">
                <a16:creationId xmlns:a16="http://schemas.microsoft.com/office/drawing/2014/main" id="{9FD470A2-A97D-3DF7-B8AE-6511932676CC}"/>
              </a:ext>
            </a:extLst>
          </p:cNvPr>
          <p:cNvSpPr/>
          <p:nvPr/>
        </p:nvSpPr>
        <p:spPr>
          <a:xfrm>
            <a:off x="9871193" y="2133347"/>
            <a:ext cx="1243712" cy="602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2800" dirty="0"/>
          </a:p>
        </p:txBody>
      </p:sp>
      <p:pic>
        <p:nvPicPr>
          <p:cNvPr id="297" name="Image 3">
            <a:extLst>
              <a:ext uri="{FF2B5EF4-FFF2-40B4-BE49-F238E27FC236}">
                <a16:creationId xmlns:a16="http://schemas.microsoft.com/office/drawing/2014/main" id="{193E69AB-07A2-A6AA-8BFE-B1673BFDFA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9874" y="4184237"/>
            <a:ext cx="256032" cy="256032"/>
          </a:xfrm>
          <a:prstGeom prst="rect">
            <a:avLst/>
          </a:prstGeom>
        </p:spPr>
      </p:pic>
      <p:pic>
        <p:nvPicPr>
          <p:cNvPr id="298" name="Image 2">
            <a:extLst>
              <a:ext uri="{FF2B5EF4-FFF2-40B4-BE49-F238E27FC236}">
                <a16:creationId xmlns:a16="http://schemas.microsoft.com/office/drawing/2014/main" id="{158B5A19-1CF2-2524-D60C-5E1CA087FD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5905" y="4225361"/>
            <a:ext cx="256032" cy="256032"/>
          </a:xfrm>
          <a:prstGeom prst="rect">
            <a:avLst/>
          </a:prstGeom>
        </p:spPr>
      </p:pic>
      <p:pic>
        <p:nvPicPr>
          <p:cNvPr id="299" name="Image 3">
            <a:extLst>
              <a:ext uri="{FF2B5EF4-FFF2-40B4-BE49-F238E27FC236}">
                <a16:creationId xmlns:a16="http://schemas.microsoft.com/office/drawing/2014/main" id="{7BF7FB41-3E09-AF16-2289-FCB61BDC7B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2937" y="4138031"/>
            <a:ext cx="256032" cy="256032"/>
          </a:xfrm>
          <a:prstGeom prst="rect">
            <a:avLst/>
          </a:prstGeom>
        </p:spPr>
      </p:pic>
      <p:sp>
        <p:nvSpPr>
          <p:cNvPr id="300" name="Shape 8">
            <a:extLst>
              <a:ext uri="{FF2B5EF4-FFF2-40B4-BE49-F238E27FC236}">
                <a16:creationId xmlns:a16="http://schemas.microsoft.com/office/drawing/2014/main" id="{0FC5B166-B0F2-31F4-F394-BDFC37EF11FE}"/>
              </a:ext>
            </a:extLst>
          </p:cNvPr>
          <p:cNvSpPr/>
          <p:nvPr/>
        </p:nvSpPr>
        <p:spPr>
          <a:xfrm>
            <a:off x="9729451" y="1357100"/>
            <a:ext cx="1463040" cy="45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A85F8DA3-5CAA-285B-EF39-6CC533C958E6}"/>
              </a:ext>
            </a:extLst>
          </p:cNvPr>
          <p:cNvSpPr/>
          <p:nvPr/>
        </p:nvSpPr>
        <p:spPr>
          <a:xfrm>
            <a:off x="7238712" y="3942778"/>
            <a:ext cx="5791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1266</a:t>
            </a:r>
            <a:endParaRPr lang="en-US" dirty="0"/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3B9649E7-766B-4DCB-3E6E-BB96FBDC5E5D}"/>
              </a:ext>
            </a:extLst>
          </p:cNvPr>
          <p:cNvSpPr/>
          <p:nvPr/>
        </p:nvSpPr>
        <p:spPr>
          <a:xfrm>
            <a:off x="7165218" y="4200751"/>
            <a:ext cx="726133" cy="355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kern="0" spc="60" dirty="0">
                <a:solidFill>
                  <a:srgbClr val="7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27103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17A2A07C-4A6A-06ED-C898-DE2E9EE98520}"/>
              </a:ext>
            </a:extLst>
          </p:cNvPr>
          <p:cNvSpPr/>
          <p:nvPr/>
        </p:nvSpPr>
        <p:spPr>
          <a:xfrm>
            <a:off x="-15240" y="-14107"/>
            <a:ext cx="1220724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A3063709-1406-37DE-D46E-2658A5319150}"/>
              </a:ext>
            </a:extLst>
          </p:cNvPr>
          <p:cNvSpPr/>
          <p:nvPr/>
        </p:nvSpPr>
        <p:spPr>
          <a:xfrm>
            <a:off x="148626" y="59807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Key Objectives</a:t>
            </a: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86E915DA-C00B-F0C2-03B1-660C9B2FC6FA}"/>
              </a:ext>
            </a:extLst>
          </p:cNvPr>
          <p:cNvSpPr/>
          <p:nvPr/>
        </p:nvSpPr>
        <p:spPr>
          <a:xfrm>
            <a:off x="2251746" y="878967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F2F0AC4D-F651-2BE8-7500-A36B8DAF03F4}"/>
              </a:ext>
            </a:extLst>
          </p:cNvPr>
          <p:cNvSpPr/>
          <p:nvPr/>
        </p:nvSpPr>
        <p:spPr>
          <a:xfrm>
            <a:off x="2251746" y="878967"/>
            <a:ext cx="64008" cy="1691640"/>
          </a:xfrm>
          <a:prstGeom prst="rect">
            <a:avLst/>
          </a:prstGeom>
          <a:solidFill>
            <a:srgbClr val="0FA6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0">
            <a:extLst>
              <a:ext uri="{FF2B5EF4-FFF2-40B4-BE49-F238E27FC236}">
                <a16:creationId xmlns:a16="http://schemas.microsoft.com/office/drawing/2014/main" id="{FBD2E799-3ED3-0BD5-EE01-44CBD2B39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346" y="1061847"/>
            <a:ext cx="292608" cy="292608"/>
          </a:xfrm>
          <a:prstGeom prst="rect">
            <a:avLst/>
          </a:prstGeom>
        </p:spPr>
      </p:pic>
      <p:sp>
        <p:nvSpPr>
          <p:cNvPr id="33" name="Text 4">
            <a:extLst>
              <a:ext uri="{FF2B5EF4-FFF2-40B4-BE49-F238E27FC236}">
                <a16:creationId xmlns:a16="http://schemas.microsoft.com/office/drawing/2014/main" id="{882C7608-1CB3-D914-6D22-19EA380447F6}"/>
              </a:ext>
            </a:extLst>
          </p:cNvPr>
          <p:cNvSpPr/>
          <p:nvPr/>
        </p:nvSpPr>
        <p:spPr>
          <a:xfrm>
            <a:off x="2846106" y="1043559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Liquidity Optimization</a:t>
            </a:r>
            <a:endParaRPr lang="en-US" sz="15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0531992F-B894-966E-65DF-8DF9C2B6E886}"/>
              </a:ext>
            </a:extLst>
          </p:cNvPr>
          <p:cNvSpPr/>
          <p:nvPr/>
        </p:nvSpPr>
        <p:spPr>
          <a:xfrm>
            <a:off x="2480346" y="1473327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purposeful real-time visibility of cash across all entities and regions.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idle balances and maximize returns through pooling or sweeping structures.</a:t>
            </a:r>
            <a:endParaRPr lang="en-US" sz="1100" dirty="0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C755EEE5-AD61-7036-B8BF-F57AFFB3B9C5}"/>
              </a:ext>
            </a:extLst>
          </p:cNvPr>
          <p:cNvSpPr/>
          <p:nvPr/>
        </p:nvSpPr>
        <p:spPr>
          <a:xfrm>
            <a:off x="6366546" y="878967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85FD64B2-223F-C149-3248-FC1ECF7A498C}"/>
              </a:ext>
            </a:extLst>
          </p:cNvPr>
          <p:cNvSpPr/>
          <p:nvPr/>
        </p:nvSpPr>
        <p:spPr>
          <a:xfrm>
            <a:off x="6366546" y="878967"/>
            <a:ext cx="64008" cy="1691640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1">
            <a:extLst>
              <a:ext uri="{FF2B5EF4-FFF2-40B4-BE49-F238E27FC236}">
                <a16:creationId xmlns:a16="http://schemas.microsoft.com/office/drawing/2014/main" id="{909B8BDC-77B6-DB9C-87C6-3A79FEF2B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146" y="1061847"/>
            <a:ext cx="292608" cy="292608"/>
          </a:xfrm>
          <a:prstGeom prst="rect">
            <a:avLst/>
          </a:prstGeom>
        </p:spPr>
      </p:pic>
      <p:sp>
        <p:nvSpPr>
          <p:cNvPr id="38" name="Text 8">
            <a:extLst>
              <a:ext uri="{FF2B5EF4-FFF2-40B4-BE49-F238E27FC236}">
                <a16:creationId xmlns:a16="http://schemas.microsoft.com/office/drawing/2014/main" id="{AA3574D1-FE84-8C6B-F13A-CE98286B59BF}"/>
              </a:ext>
            </a:extLst>
          </p:cNvPr>
          <p:cNvSpPr/>
          <p:nvPr/>
        </p:nvSpPr>
        <p:spPr>
          <a:xfrm>
            <a:off x="6960906" y="1043559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Efficiency</a:t>
            </a:r>
            <a:endParaRPr lang="en-US" sz="150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81A5DFF4-A137-3A77-A6FE-E935B786BBFD}"/>
              </a:ext>
            </a:extLst>
          </p:cNvPr>
          <p:cNvSpPr/>
          <p:nvPr/>
        </p:nvSpPr>
        <p:spPr>
          <a:xfrm>
            <a:off x="6595146" y="1473327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banking fees, transaction costs, and FX conversion expenses.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Rationalize bank accounts and relationships globally.</a:t>
            </a:r>
            <a:endParaRPr lang="en-US" sz="1100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B8DE5EB4-8045-DA7D-7ADC-C3DBFC90D6ED}"/>
              </a:ext>
            </a:extLst>
          </p:cNvPr>
          <p:cNvSpPr/>
          <p:nvPr/>
        </p:nvSpPr>
        <p:spPr>
          <a:xfrm>
            <a:off x="166914" y="2882265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E726F6BD-5D48-2084-D349-E64282E1906D}"/>
              </a:ext>
            </a:extLst>
          </p:cNvPr>
          <p:cNvSpPr/>
          <p:nvPr/>
        </p:nvSpPr>
        <p:spPr>
          <a:xfrm>
            <a:off x="166914" y="2882265"/>
            <a:ext cx="64008" cy="16916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2">
            <a:extLst>
              <a:ext uri="{FF2B5EF4-FFF2-40B4-BE49-F238E27FC236}">
                <a16:creationId xmlns:a16="http://schemas.microsoft.com/office/drawing/2014/main" id="{FEF27537-DB59-60AA-FC6D-F083C7205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14" y="3065145"/>
            <a:ext cx="292608" cy="292608"/>
          </a:xfrm>
          <a:prstGeom prst="rect">
            <a:avLst/>
          </a:prstGeom>
        </p:spPr>
      </p:pic>
      <p:sp>
        <p:nvSpPr>
          <p:cNvPr id="43" name="Text 12">
            <a:extLst>
              <a:ext uri="{FF2B5EF4-FFF2-40B4-BE49-F238E27FC236}">
                <a16:creationId xmlns:a16="http://schemas.microsoft.com/office/drawing/2014/main" id="{38B7693F-150F-061B-0EA2-0B3C370098AD}"/>
              </a:ext>
            </a:extLst>
          </p:cNvPr>
          <p:cNvSpPr/>
          <p:nvPr/>
        </p:nvSpPr>
        <p:spPr>
          <a:xfrm>
            <a:off x="761274" y="3046857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Standardization &amp; Automation</a:t>
            </a:r>
            <a:endParaRPr lang="en-US" sz="150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631188CE-7424-1DA1-C808-E8D5CC089840}"/>
              </a:ext>
            </a:extLst>
          </p:cNvPr>
          <p:cNvSpPr/>
          <p:nvPr/>
        </p:nvSpPr>
        <p:spPr>
          <a:xfrm>
            <a:off x="395514" y="3476625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Harmonize payment processes, approval workflows, and reporting globally.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ION IT2 TMS and API/Host to Host integrations for automation.</a:t>
            </a:r>
            <a:endParaRPr lang="en-US" sz="1100" dirty="0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9A28A7F7-EBD7-C802-B31E-9378B82B91F3}"/>
              </a:ext>
            </a:extLst>
          </p:cNvPr>
          <p:cNvSpPr/>
          <p:nvPr/>
        </p:nvSpPr>
        <p:spPr>
          <a:xfrm>
            <a:off x="4309146" y="2868549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15">
            <a:extLst>
              <a:ext uri="{FF2B5EF4-FFF2-40B4-BE49-F238E27FC236}">
                <a16:creationId xmlns:a16="http://schemas.microsoft.com/office/drawing/2014/main" id="{B037F998-9622-4D8B-262E-649324ED7C09}"/>
              </a:ext>
            </a:extLst>
          </p:cNvPr>
          <p:cNvSpPr/>
          <p:nvPr/>
        </p:nvSpPr>
        <p:spPr>
          <a:xfrm>
            <a:off x="4281714" y="2882265"/>
            <a:ext cx="64008" cy="16916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3">
            <a:extLst>
              <a:ext uri="{FF2B5EF4-FFF2-40B4-BE49-F238E27FC236}">
                <a16:creationId xmlns:a16="http://schemas.microsoft.com/office/drawing/2014/main" id="{42BDEE57-6312-7177-164B-1FB1C9C64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314" y="3065145"/>
            <a:ext cx="292608" cy="292608"/>
          </a:xfrm>
          <a:prstGeom prst="rect">
            <a:avLst/>
          </a:prstGeom>
        </p:spPr>
      </p:pic>
      <p:sp>
        <p:nvSpPr>
          <p:cNvPr id="48" name="Text 16">
            <a:extLst>
              <a:ext uri="{FF2B5EF4-FFF2-40B4-BE49-F238E27FC236}">
                <a16:creationId xmlns:a16="http://schemas.microsoft.com/office/drawing/2014/main" id="{88212AD8-39C2-385A-F63A-AFD27F239DF7}"/>
              </a:ext>
            </a:extLst>
          </p:cNvPr>
          <p:cNvSpPr/>
          <p:nvPr/>
        </p:nvSpPr>
        <p:spPr>
          <a:xfrm>
            <a:off x="4876074" y="3046857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Management</a:t>
            </a:r>
            <a:endParaRPr lang="en-US" sz="150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87EFB58D-BAB0-3CE6-7002-9992E0F36DD6}"/>
              </a:ext>
            </a:extLst>
          </p:cNvPr>
          <p:cNvSpPr/>
          <p:nvPr/>
        </p:nvSpPr>
        <p:spPr>
          <a:xfrm>
            <a:off x="4510314" y="3476625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FX volatility, interest rate risk, and counterparty risk.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robust fraud prevention and cybersecurity measures.</a:t>
            </a:r>
            <a:endParaRPr lang="en-US" sz="1100" dirty="0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A4EF720C-7671-C28A-CC92-77E82869C7E2}"/>
              </a:ext>
            </a:extLst>
          </p:cNvPr>
          <p:cNvSpPr/>
          <p:nvPr/>
        </p:nvSpPr>
        <p:spPr>
          <a:xfrm>
            <a:off x="8286786" y="2826639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E497D65B-E087-426B-2975-0AB17AA1D24C}"/>
              </a:ext>
            </a:extLst>
          </p:cNvPr>
          <p:cNvSpPr/>
          <p:nvPr/>
        </p:nvSpPr>
        <p:spPr>
          <a:xfrm>
            <a:off x="8286786" y="2826639"/>
            <a:ext cx="64008" cy="169164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0">
            <a:extLst>
              <a:ext uri="{FF2B5EF4-FFF2-40B4-BE49-F238E27FC236}">
                <a16:creationId xmlns:a16="http://schemas.microsoft.com/office/drawing/2014/main" id="{EEA96426-DEC5-C3D4-23AB-2A7B4835A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5386" y="3009519"/>
            <a:ext cx="292608" cy="292608"/>
          </a:xfrm>
          <a:prstGeom prst="rect">
            <a:avLst/>
          </a:prstGeom>
        </p:spPr>
      </p:pic>
      <p:sp>
        <p:nvSpPr>
          <p:cNvPr id="53" name="Text 4">
            <a:extLst>
              <a:ext uri="{FF2B5EF4-FFF2-40B4-BE49-F238E27FC236}">
                <a16:creationId xmlns:a16="http://schemas.microsoft.com/office/drawing/2014/main" id="{08921136-89DB-AC19-610A-2CB0EF9CCC48}"/>
              </a:ext>
            </a:extLst>
          </p:cNvPr>
          <p:cNvSpPr/>
          <p:nvPr/>
        </p:nvSpPr>
        <p:spPr>
          <a:xfrm>
            <a:off x="8881146" y="2991231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Capital Efficiency</a:t>
            </a:r>
            <a:endParaRPr lang="en-US" sz="1500" dirty="0"/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1011EABE-1C29-FAD9-9A5F-54D4C98D5A2B}"/>
              </a:ext>
            </a:extLst>
          </p:cNvPr>
          <p:cNvSpPr/>
          <p:nvPr/>
        </p:nvSpPr>
        <p:spPr>
          <a:xfrm>
            <a:off x="8515386" y="3420999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receivables, payables processes to free up cash.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cash forecasting with operational cycles.</a:t>
            </a:r>
            <a:endParaRPr lang="en-US" sz="1100" dirty="0"/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05C14099-5679-A558-80E3-20EF30654C84}"/>
              </a:ext>
            </a:extLst>
          </p:cNvPr>
          <p:cNvSpPr/>
          <p:nvPr/>
        </p:nvSpPr>
        <p:spPr>
          <a:xfrm>
            <a:off x="6595146" y="4885563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7">
            <a:extLst>
              <a:ext uri="{FF2B5EF4-FFF2-40B4-BE49-F238E27FC236}">
                <a16:creationId xmlns:a16="http://schemas.microsoft.com/office/drawing/2014/main" id="{8CAA0716-4190-08E1-BBF5-89AE889541E9}"/>
              </a:ext>
            </a:extLst>
          </p:cNvPr>
          <p:cNvSpPr/>
          <p:nvPr/>
        </p:nvSpPr>
        <p:spPr>
          <a:xfrm>
            <a:off x="6686586" y="4934331"/>
            <a:ext cx="64008" cy="16916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1">
            <a:extLst>
              <a:ext uri="{FF2B5EF4-FFF2-40B4-BE49-F238E27FC236}">
                <a16:creationId xmlns:a16="http://schemas.microsoft.com/office/drawing/2014/main" id="{3E9E31C4-93B3-6E40-5647-4EB0D722C1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5186" y="5117211"/>
            <a:ext cx="292608" cy="292608"/>
          </a:xfrm>
          <a:prstGeom prst="rect">
            <a:avLst/>
          </a:prstGeom>
        </p:spPr>
      </p:pic>
      <p:sp>
        <p:nvSpPr>
          <p:cNvPr id="58" name="Text 8">
            <a:extLst>
              <a:ext uri="{FF2B5EF4-FFF2-40B4-BE49-F238E27FC236}">
                <a16:creationId xmlns:a16="http://schemas.microsoft.com/office/drawing/2014/main" id="{0F493BE1-A5C4-6FBF-9CBA-C425A3F5834D}"/>
              </a:ext>
            </a:extLst>
          </p:cNvPr>
          <p:cNvSpPr/>
          <p:nvPr/>
        </p:nvSpPr>
        <p:spPr>
          <a:xfrm>
            <a:off x="7280946" y="5098923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Compliance</a:t>
            </a:r>
            <a:endParaRPr lang="en-US" sz="1500" dirty="0"/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FCF8C916-AB42-F3D8-8BE1-E779F9C3EC1A}"/>
              </a:ext>
            </a:extLst>
          </p:cNvPr>
          <p:cNvSpPr/>
          <p:nvPr/>
        </p:nvSpPr>
        <p:spPr>
          <a:xfrm>
            <a:off x="6915186" y="5528691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 to local and international regulations (tax, FX, AML/KYC).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audit-ready processes and documentation.</a:t>
            </a:r>
            <a:endParaRPr lang="en-US" sz="1100" dirty="0"/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5D033D44-05C0-3E8C-8BF5-8490F85257DA}"/>
              </a:ext>
            </a:extLst>
          </p:cNvPr>
          <p:cNvSpPr/>
          <p:nvPr/>
        </p:nvSpPr>
        <p:spPr>
          <a:xfrm>
            <a:off x="1767114" y="4930521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11">
            <a:extLst>
              <a:ext uri="{FF2B5EF4-FFF2-40B4-BE49-F238E27FC236}">
                <a16:creationId xmlns:a16="http://schemas.microsoft.com/office/drawing/2014/main" id="{F4237F17-DC11-1CBC-A3A2-0447B26379AF}"/>
              </a:ext>
            </a:extLst>
          </p:cNvPr>
          <p:cNvSpPr/>
          <p:nvPr/>
        </p:nvSpPr>
        <p:spPr>
          <a:xfrm>
            <a:off x="1767114" y="4930521"/>
            <a:ext cx="64008" cy="1691640"/>
          </a:xfrm>
          <a:prstGeom prst="rect">
            <a:avLst/>
          </a:prstGeom>
          <a:solidFill>
            <a:srgbClr val="C8A4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2" name="Image 2">
            <a:extLst>
              <a:ext uri="{FF2B5EF4-FFF2-40B4-BE49-F238E27FC236}">
                <a16:creationId xmlns:a16="http://schemas.microsoft.com/office/drawing/2014/main" id="{CB26247B-C118-8D41-5126-B115DCD18D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5714" y="5113401"/>
            <a:ext cx="292608" cy="292608"/>
          </a:xfrm>
          <a:prstGeom prst="rect">
            <a:avLst/>
          </a:prstGeom>
        </p:spPr>
      </p:pic>
      <p:sp>
        <p:nvSpPr>
          <p:cNvPr id="63" name="Text 12">
            <a:extLst>
              <a:ext uri="{FF2B5EF4-FFF2-40B4-BE49-F238E27FC236}">
                <a16:creationId xmlns:a16="http://schemas.microsoft.com/office/drawing/2014/main" id="{39F1FD8D-2935-6CD7-2871-86D6019EEE12}"/>
              </a:ext>
            </a:extLst>
          </p:cNvPr>
          <p:cNvSpPr/>
          <p:nvPr/>
        </p:nvSpPr>
        <p:spPr>
          <a:xfrm>
            <a:off x="2361474" y="5095113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Flexibility</a:t>
            </a:r>
            <a:endParaRPr lang="en-US" sz="1500" dirty="0"/>
          </a:p>
        </p:txBody>
      </p:sp>
      <p:sp>
        <p:nvSpPr>
          <p:cNvPr id="64" name="Text 13">
            <a:extLst>
              <a:ext uri="{FF2B5EF4-FFF2-40B4-BE49-F238E27FC236}">
                <a16:creationId xmlns:a16="http://schemas.microsoft.com/office/drawing/2014/main" id="{19B243F1-1483-84FE-5D4B-1F4E674DC8EF}"/>
              </a:ext>
            </a:extLst>
          </p:cNvPr>
          <p:cNvSpPr/>
          <p:nvPr/>
        </p:nvSpPr>
        <p:spPr>
          <a:xfrm>
            <a:off x="1995714" y="5524881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quick access to liquidity for acquisitions, expansions, or crisis response.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global growth with scalable cash management infrastructure.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4115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CDCC8B-ECBA-36B5-54D2-2DE744D9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518">
            <a:extLst>
              <a:ext uri="{FF2B5EF4-FFF2-40B4-BE49-F238E27FC236}">
                <a16:creationId xmlns:a16="http://schemas.microsoft.com/office/drawing/2014/main" id="{40B106BD-CFF0-30B8-BB23-A14667C535AF}"/>
              </a:ext>
            </a:extLst>
          </p:cNvPr>
          <p:cNvSpPr txBox="1"/>
          <p:nvPr/>
        </p:nvSpPr>
        <p:spPr>
          <a:xfrm>
            <a:off x="1723527" y="3395426"/>
            <a:ext cx="1320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Wire Payment Journal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F707923-ED16-58C9-1446-ECAD83BC235B}"/>
              </a:ext>
            </a:extLst>
          </p:cNvPr>
          <p:cNvSpPr/>
          <p:nvPr/>
        </p:nvSpPr>
        <p:spPr>
          <a:xfrm>
            <a:off x="-15240" y="0"/>
            <a:ext cx="1220724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32ADEA-0DFD-CCA9-52CA-806E60C1C574}"/>
              </a:ext>
            </a:extLst>
          </p:cNvPr>
          <p:cNvSpPr/>
          <p:nvPr/>
        </p:nvSpPr>
        <p:spPr>
          <a:xfrm>
            <a:off x="166914" y="914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CTM Future State Systems Overview</a:t>
            </a:r>
          </a:p>
        </p:txBody>
      </p:sp>
      <p:sp>
        <p:nvSpPr>
          <p:cNvPr id="17" name="Google Shape;1751;p75">
            <a:extLst>
              <a:ext uri="{FF2B5EF4-FFF2-40B4-BE49-F238E27FC236}">
                <a16:creationId xmlns:a16="http://schemas.microsoft.com/office/drawing/2014/main" id="{9FFCDDFC-596F-F416-E4BA-1BE4A41A56D5}"/>
              </a:ext>
            </a:extLst>
          </p:cNvPr>
          <p:cNvSpPr txBox="1">
            <a:spLocks/>
          </p:cNvSpPr>
          <p:nvPr/>
        </p:nvSpPr>
        <p:spPr>
          <a:xfrm>
            <a:off x="7965665" y="110474"/>
            <a:ext cx="4091712" cy="52652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2400" b="0" i="0" u="none" strike="noStrike" kern="1200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457200" lvl="1" algn="l" defTabSz="4572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Calibri" panose="020F0502020204030204"/>
                <a:sym typeface="Montserrat"/>
              </a:rPr>
              <a:t>Citibank conversion</a:t>
            </a:r>
          </a:p>
          <a:p>
            <a:pPr marL="171450" indent="-17145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Calibri" panose="020F0502020204030204"/>
                <a:sym typeface="Montserrat"/>
              </a:rPr>
              <a:t>ION IT2 (Payments, Sanctions screening, Vendor verification)</a:t>
            </a:r>
          </a:p>
          <a:p>
            <a:pPr marL="171450" indent="-17145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Calibri" panose="020F0502020204030204"/>
                <a:sym typeface="Montserrat"/>
              </a:rPr>
              <a:t>BOA IREC (AR automation) </a:t>
            </a:r>
            <a:endParaRPr lang="en-US" sz="12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BFC83813-9A19-BA67-FB60-CE8A90FD960B}"/>
              </a:ext>
            </a:extLst>
          </p:cNvPr>
          <p:cNvSpPr/>
          <p:nvPr/>
        </p:nvSpPr>
        <p:spPr>
          <a:xfrm>
            <a:off x="8091297" y="5618227"/>
            <a:ext cx="2246047" cy="1113616"/>
          </a:xfrm>
          <a:prstGeom prst="roundRect">
            <a:avLst/>
          </a:prstGeom>
          <a:solidFill>
            <a:srgbClr val="D8D8D8"/>
          </a:solidFill>
          <a:ln w="158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A55AF62E-74D2-9A33-AAB7-69B88B3C1C3B}"/>
              </a:ext>
            </a:extLst>
          </p:cNvPr>
          <p:cNvSpPr/>
          <p:nvPr/>
        </p:nvSpPr>
        <p:spPr>
          <a:xfrm>
            <a:off x="3636209" y="900621"/>
            <a:ext cx="3095130" cy="1202503"/>
          </a:xfrm>
          <a:prstGeom prst="roundRect">
            <a:avLst/>
          </a:prstGeom>
          <a:solidFill>
            <a:srgbClr val="D8D8D8"/>
          </a:solidFill>
          <a:ln w="158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E803E349-62B7-56EF-A11C-5762020A1271}"/>
              </a:ext>
            </a:extLst>
          </p:cNvPr>
          <p:cNvCxnSpPr>
            <a:cxnSpLocks/>
          </p:cNvCxnSpPr>
          <p:nvPr/>
        </p:nvCxnSpPr>
        <p:spPr>
          <a:xfrm flipV="1">
            <a:off x="1496514" y="4903087"/>
            <a:ext cx="8931612" cy="18632"/>
          </a:xfrm>
          <a:prstGeom prst="bentConnector3">
            <a:avLst/>
          </a:prstGeom>
          <a:noFill/>
          <a:ln w="12700" cap="flat" cmpd="sng" algn="ctr">
            <a:solidFill>
              <a:srgbClr val="4672C4"/>
            </a:solidFill>
            <a:prstDash val="solid"/>
            <a:headEnd type="triangle" w="med" len="med"/>
            <a:tailEnd type="triangle" w="med" len="med"/>
          </a:ln>
          <a:effectLst/>
        </p:spPr>
      </p:cxn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77ED37E6-25E4-046C-7105-00594D14515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52837" y="4663213"/>
            <a:ext cx="790763" cy="3352"/>
          </a:xfrm>
          <a:prstGeom prst="bentConnector3">
            <a:avLst>
              <a:gd name="adj1" fmla="val -6166"/>
            </a:avLst>
          </a:prstGeom>
          <a:noFill/>
          <a:ln w="12700" cap="flat" cmpd="sng" algn="ctr">
            <a:solidFill>
              <a:srgbClr val="4672C4"/>
            </a:solidFill>
            <a:prstDash val="solid"/>
            <a:headEnd type="triangle" w="med" len="med"/>
            <a:tailEnd type="triangle" w="med" len="med"/>
          </a:ln>
          <a:effectLst/>
        </p:spPr>
      </p:cxn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F3AF54AD-2572-95AA-80A5-648E3D3B92E4}"/>
              </a:ext>
            </a:extLst>
          </p:cNvPr>
          <p:cNvSpPr/>
          <p:nvPr/>
        </p:nvSpPr>
        <p:spPr>
          <a:xfrm>
            <a:off x="5359988" y="2656201"/>
            <a:ext cx="2388971" cy="1613306"/>
          </a:xfrm>
          <a:prstGeom prst="roundRect">
            <a:avLst/>
          </a:prstGeom>
          <a:solidFill>
            <a:srgbClr val="D8D8D8"/>
          </a:solidFill>
          <a:ln w="158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E97ED1F2-7757-A95B-1D51-587E4C025FAD}"/>
              </a:ext>
            </a:extLst>
          </p:cNvPr>
          <p:cNvSpPr/>
          <p:nvPr/>
        </p:nvSpPr>
        <p:spPr>
          <a:xfrm>
            <a:off x="5717384" y="5060271"/>
            <a:ext cx="1868603" cy="1519798"/>
          </a:xfrm>
          <a:prstGeom prst="roundRect">
            <a:avLst/>
          </a:prstGeom>
          <a:solidFill>
            <a:srgbClr val="D8D8D8"/>
          </a:solidFill>
          <a:ln w="158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B76EFCB-49AC-9F12-9B2F-74288138E2E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20194" y="3492925"/>
            <a:ext cx="658812" cy="568325"/>
            <a:chOff x="3189" y="2393"/>
            <a:chExt cx="415" cy="358"/>
          </a:xfrm>
          <a:solidFill>
            <a:srgbClr val="1B2A4A"/>
          </a:solidFill>
        </p:grpSpPr>
        <p:sp>
          <p:nvSpPr>
            <p:cNvPr id="143" name="AutoShape 4">
              <a:extLst>
                <a:ext uri="{FF2B5EF4-FFF2-40B4-BE49-F238E27FC236}">
                  <a16:creationId xmlns:a16="http://schemas.microsoft.com/office/drawing/2014/main" id="{01A528E5-F59C-E016-79A5-7C15C640BD2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189" y="2393"/>
              <a:ext cx="415" cy="3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6">
              <a:extLst>
                <a:ext uri="{FF2B5EF4-FFF2-40B4-BE49-F238E27FC236}">
                  <a16:creationId xmlns:a16="http://schemas.microsoft.com/office/drawing/2014/main" id="{B255F886-28EB-CCA1-F769-65BA8A4C5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4" y="2407"/>
              <a:ext cx="389" cy="336"/>
            </a:xfrm>
            <a:custGeom>
              <a:avLst/>
              <a:gdLst>
                <a:gd name="T0" fmla="*/ 0 w 960"/>
                <a:gd name="T1" fmla="*/ 96 h 826"/>
                <a:gd name="T2" fmla="*/ 0 w 960"/>
                <a:gd name="T3" fmla="*/ 730 h 826"/>
                <a:gd name="T4" fmla="*/ 480 w 960"/>
                <a:gd name="T5" fmla="*/ 826 h 826"/>
                <a:gd name="T6" fmla="*/ 960 w 960"/>
                <a:gd name="T7" fmla="*/ 730 h 826"/>
                <a:gd name="T8" fmla="*/ 960 w 960"/>
                <a:gd name="T9" fmla="*/ 96 h 826"/>
                <a:gd name="T10" fmla="*/ 480 w 960"/>
                <a:gd name="T11" fmla="*/ 0 h 826"/>
                <a:gd name="T12" fmla="*/ 0 w 960"/>
                <a:gd name="T13" fmla="*/ 96 h 8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0" h="826">
                  <a:moveTo>
                    <a:pt x="0" y="96"/>
                  </a:moveTo>
                  <a:lnTo>
                    <a:pt x="0" y="730"/>
                  </a:lnTo>
                  <a:cubicBezTo>
                    <a:pt x="0" y="783"/>
                    <a:pt x="215" y="826"/>
                    <a:pt x="480" y="826"/>
                  </a:cubicBezTo>
                  <a:cubicBezTo>
                    <a:pt x="745" y="826"/>
                    <a:pt x="960" y="783"/>
                    <a:pt x="960" y="730"/>
                  </a:cubicBezTo>
                  <a:lnTo>
                    <a:pt x="960" y="96"/>
                  </a:lnTo>
                  <a:cubicBezTo>
                    <a:pt x="960" y="43"/>
                    <a:pt x="745" y="0"/>
                    <a:pt x="480" y="0"/>
                  </a:cubicBezTo>
                  <a:cubicBezTo>
                    <a:pt x="215" y="0"/>
                    <a:pt x="0" y="43"/>
                    <a:pt x="0" y="96"/>
                  </a:cubicBezTo>
                  <a:close/>
                </a:path>
              </a:pathLst>
            </a:custGeom>
            <a:grp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Freeform 7">
              <a:extLst>
                <a:ext uri="{FF2B5EF4-FFF2-40B4-BE49-F238E27FC236}">
                  <a16:creationId xmlns:a16="http://schemas.microsoft.com/office/drawing/2014/main" id="{0AB53451-D515-60B2-925F-C26D7380D5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4" y="2407"/>
              <a:ext cx="389" cy="336"/>
            </a:xfrm>
            <a:custGeom>
              <a:avLst/>
              <a:gdLst>
                <a:gd name="T0" fmla="*/ 0 w 960"/>
                <a:gd name="T1" fmla="*/ 96 h 826"/>
                <a:gd name="T2" fmla="*/ 0 w 960"/>
                <a:gd name="T3" fmla="*/ 730 h 826"/>
                <a:gd name="T4" fmla="*/ 480 w 960"/>
                <a:gd name="T5" fmla="*/ 826 h 826"/>
                <a:gd name="T6" fmla="*/ 960 w 960"/>
                <a:gd name="T7" fmla="*/ 730 h 826"/>
                <a:gd name="T8" fmla="*/ 960 w 960"/>
                <a:gd name="T9" fmla="*/ 96 h 826"/>
                <a:gd name="T10" fmla="*/ 480 w 960"/>
                <a:gd name="T11" fmla="*/ 0 h 826"/>
                <a:gd name="T12" fmla="*/ 0 w 960"/>
                <a:gd name="T13" fmla="*/ 96 h 826"/>
                <a:gd name="T14" fmla="*/ 0 w 960"/>
                <a:gd name="T15" fmla="*/ 96 h 826"/>
                <a:gd name="T16" fmla="*/ 480 w 960"/>
                <a:gd name="T17" fmla="*/ 192 h 826"/>
                <a:gd name="T18" fmla="*/ 960 w 960"/>
                <a:gd name="T19" fmla="*/ 96 h 826"/>
                <a:gd name="T20" fmla="*/ 0 w 960"/>
                <a:gd name="T21" fmla="*/ 144 h 826"/>
                <a:gd name="T22" fmla="*/ 480 w 960"/>
                <a:gd name="T23" fmla="*/ 240 h 826"/>
                <a:gd name="T24" fmla="*/ 960 w 960"/>
                <a:gd name="T25" fmla="*/ 144 h 826"/>
                <a:gd name="T26" fmla="*/ 0 w 960"/>
                <a:gd name="T27" fmla="*/ 192 h 826"/>
                <a:gd name="T28" fmla="*/ 480 w 960"/>
                <a:gd name="T29" fmla="*/ 288 h 826"/>
                <a:gd name="T30" fmla="*/ 960 w 960"/>
                <a:gd name="T31" fmla="*/ 192 h 8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60" h="826">
                  <a:moveTo>
                    <a:pt x="0" y="96"/>
                  </a:moveTo>
                  <a:lnTo>
                    <a:pt x="0" y="730"/>
                  </a:lnTo>
                  <a:cubicBezTo>
                    <a:pt x="0" y="783"/>
                    <a:pt x="215" y="826"/>
                    <a:pt x="480" y="826"/>
                  </a:cubicBezTo>
                  <a:cubicBezTo>
                    <a:pt x="745" y="826"/>
                    <a:pt x="960" y="783"/>
                    <a:pt x="960" y="730"/>
                  </a:cubicBezTo>
                  <a:lnTo>
                    <a:pt x="960" y="96"/>
                  </a:lnTo>
                  <a:cubicBezTo>
                    <a:pt x="960" y="43"/>
                    <a:pt x="745" y="0"/>
                    <a:pt x="480" y="0"/>
                  </a:cubicBezTo>
                  <a:cubicBezTo>
                    <a:pt x="215" y="0"/>
                    <a:pt x="0" y="43"/>
                    <a:pt x="0" y="96"/>
                  </a:cubicBezTo>
                  <a:close/>
                  <a:moveTo>
                    <a:pt x="0" y="96"/>
                  </a:moveTo>
                  <a:cubicBezTo>
                    <a:pt x="0" y="149"/>
                    <a:pt x="215" y="192"/>
                    <a:pt x="480" y="192"/>
                  </a:cubicBezTo>
                  <a:cubicBezTo>
                    <a:pt x="745" y="192"/>
                    <a:pt x="960" y="149"/>
                    <a:pt x="960" y="96"/>
                  </a:cubicBezTo>
                  <a:moveTo>
                    <a:pt x="0" y="144"/>
                  </a:moveTo>
                  <a:cubicBezTo>
                    <a:pt x="0" y="197"/>
                    <a:pt x="215" y="240"/>
                    <a:pt x="480" y="240"/>
                  </a:cubicBezTo>
                  <a:cubicBezTo>
                    <a:pt x="745" y="240"/>
                    <a:pt x="960" y="197"/>
                    <a:pt x="960" y="144"/>
                  </a:cubicBezTo>
                  <a:moveTo>
                    <a:pt x="0" y="192"/>
                  </a:moveTo>
                  <a:cubicBezTo>
                    <a:pt x="0" y="245"/>
                    <a:pt x="215" y="288"/>
                    <a:pt x="480" y="288"/>
                  </a:cubicBezTo>
                  <a:cubicBezTo>
                    <a:pt x="745" y="288"/>
                    <a:pt x="960" y="245"/>
                    <a:pt x="960" y="192"/>
                  </a:cubicBezTo>
                </a:path>
              </a:pathLst>
            </a:custGeom>
            <a:grpFill/>
            <a:ln w="3175" cap="sq">
              <a:solidFill>
                <a:srgbClr val="C8C8C8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D67920DE-A22E-9C01-58E8-D32A5BF73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7" y="2585"/>
              <a:ext cx="156" cy="13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IT2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9EF3CA64-28BE-B060-444B-DAF5EC88D7A8}"/>
              </a:ext>
            </a:extLst>
          </p:cNvPr>
          <p:cNvSpPr/>
          <p:nvPr/>
        </p:nvSpPr>
        <p:spPr>
          <a:xfrm>
            <a:off x="10468473" y="871734"/>
            <a:ext cx="1672046" cy="5393172"/>
          </a:xfrm>
          <a:prstGeom prst="roundRect">
            <a:avLst/>
          </a:prstGeom>
          <a:solidFill>
            <a:srgbClr val="D8D8D8"/>
          </a:solidFill>
          <a:ln w="15875" cap="flat" cmpd="sng" algn="ctr">
            <a:solidFill>
              <a:srgbClr val="D8D8D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8" name="Picture 147" descr="Logo&#10;&#10;Description automatically generated">
            <a:extLst>
              <a:ext uri="{FF2B5EF4-FFF2-40B4-BE49-F238E27FC236}">
                <a16:creationId xmlns:a16="http://schemas.microsoft.com/office/drawing/2014/main" id="{919E578C-998D-4C29-C39D-92C79D90E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258" y="1578001"/>
            <a:ext cx="619795" cy="399666"/>
          </a:xfrm>
          <a:prstGeom prst="rect">
            <a:avLst/>
          </a:prstGeom>
        </p:spPr>
      </p:pic>
      <p:sp>
        <p:nvSpPr>
          <p:cNvPr id="149" name="TextBox 145">
            <a:extLst>
              <a:ext uri="{FF2B5EF4-FFF2-40B4-BE49-F238E27FC236}">
                <a16:creationId xmlns:a16="http://schemas.microsoft.com/office/drawing/2014/main" id="{6A748EFA-4C86-3E37-5B14-A31772E512D3}"/>
              </a:ext>
            </a:extLst>
          </p:cNvPr>
          <p:cNvSpPr txBox="1"/>
          <p:nvPr/>
        </p:nvSpPr>
        <p:spPr>
          <a:xfrm>
            <a:off x="3545137" y="1276692"/>
            <a:ext cx="2035158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>
                <a:solidFill>
                  <a:srgbClr val="1B2A4A"/>
                </a:solidFill>
                <a:latin typeface="Calibri" panose="020F0502020204030204"/>
              </a:rPr>
              <a:t>Manual Payment Requests/Approvals</a:t>
            </a:r>
          </a:p>
          <a:p>
            <a:pPr algn="ctr">
              <a:defRPr/>
            </a:pPr>
            <a:r>
              <a:rPr lang="en-US" sz="900" b="1">
                <a:solidFill>
                  <a:srgbClr val="1B2A4A"/>
                </a:solidFill>
                <a:latin typeface="Calibri" panose="020F0502020204030204"/>
              </a:rPr>
              <a:t>(and Business Continuity)</a:t>
            </a: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E85AB1EC-744F-3C74-BDDE-B4A885F77DE2}"/>
              </a:ext>
            </a:extLst>
          </p:cNvPr>
          <p:cNvSpPr/>
          <p:nvPr/>
        </p:nvSpPr>
        <p:spPr>
          <a:xfrm>
            <a:off x="6944194" y="887295"/>
            <a:ext cx="1889760" cy="1201758"/>
          </a:xfrm>
          <a:prstGeom prst="roundRect">
            <a:avLst/>
          </a:prstGeom>
          <a:solidFill>
            <a:srgbClr val="D8D8D8"/>
          </a:solidFill>
          <a:ln w="158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TextBox 148">
            <a:extLst>
              <a:ext uri="{FF2B5EF4-FFF2-40B4-BE49-F238E27FC236}">
                <a16:creationId xmlns:a16="http://schemas.microsoft.com/office/drawing/2014/main" id="{4D39FD8B-AC3E-6A19-CA22-AB05E03958E3}"/>
              </a:ext>
            </a:extLst>
          </p:cNvPr>
          <p:cNvSpPr txBox="1"/>
          <p:nvPr/>
        </p:nvSpPr>
        <p:spPr>
          <a:xfrm>
            <a:off x="4229497" y="937171"/>
            <a:ext cx="177435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/>
              </a:rPr>
              <a:t>REGION / DIVISION </a:t>
            </a:r>
          </a:p>
          <a:p>
            <a:pPr algn="ctr">
              <a:defRPr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/>
              </a:rPr>
              <a:t>VIEW</a:t>
            </a:r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3B552A9A-BF92-5ADA-0B85-FDB379D775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887"/>
          <a:stretch/>
        </p:blipFill>
        <p:spPr>
          <a:xfrm>
            <a:off x="11149504" y="1509300"/>
            <a:ext cx="309983" cy="355645"/>
          </a:xfrm>
          <a:prstGeom prst="rect">
            <a:avLst/>
          </a:prstGeom>
        </p:spPr>
      </p:pic>
      <p:sp>
        <p:nvSpPr>
          <p:cNvPr id="153" name="Rectangle 152">
            <a:extLst>
              <a:ext uri="{FF2B5EF4-FFF2-40B4-BE49-F238E27FC236}">
                <a16:creationId xmlns:a16="http://schemas.microsoft.com/office/drawing/2014/main" id="{FAD3338F-51F2-C914-B3AF-F2CBFF4BF000}"/>
              </a:ext>
            </a:extLst>
          </p:cNvPr>
          <p:cNvSpPr/>
          <p:nvPr/>
        </p:nvSpPr>
        <p:spPr>
          <a:xfrm>
            <a:off x="10560678" y="5043020"/>
            <a:ext cx="1542407" cy="214869"/>
          </a:xfrm>
          <a:prstGeom prst="rect">
            <a:avLst/>
          </a:prstGeom>
          <a:solidFill>
            <a:srgbClr val="1B2A4A"/>
          </a:solidFill>
          <a:ln w="15875" cap="flat" cmpd="sng" algn="ctr">
            <a:solidFill>
              <a:srgbClr val="D8D8D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ACH File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CD81630-245C-4FD9-5B9A-BD5E81078C0B}"/>
              </a:ext>
            </a:extLst>
          </p:cNvPr>
          <p:cNvSpPr/>
          <p:nvPr/>
        </p:nvSpPr>
        <p:spPr>
          <a:xfrm>
            <a:off x="10652097" y="994953"/>
            <a:ext cx="1222834" cy="479658"/>
          </a:xfrm>
          <a:prstGeom prst="rect">
            <a:avLst/>
          </a:prstGeom>
          <a:solidFill>
            <a:srgbClr val="1B2A4A"/>
          </a:solidFill>
          <a:ln w="15875" cap="flat" cmpd="sng" algn="ctr">
            <a:solidFill>
              <a:srgbClr val="D8D8D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 Accounts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D01092FB-46A8-831A-5B37-3AF79E0498EB}"/>
              </a:ext>
            </a:extLst>
          </p:cNvPr>
          <p:cNvSpPr/>
          <p:nvPr/>
        </p:nvSpPr>
        <p:spPr>
          <a:xfrm>
            <a:off x="10544812" y="5328022"/>
            <a:ext cx="1542407" cy="214869"/>
          </a:xfrm>
          <a:prstGeom prst="rect">
            <a:avLst/>
          </a:prstGeom>
          <a:solidFill>
            <a:srgbClr val="1B2A4A"/>
          </a:solidFill>
          <a:ln w="15875" cap="flat" cmpd="sng" algn="ctr">
            <a:solidFill>
              <a:srgbClr val="D8D8D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 File 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CFC5362F-2261-25EF-92D0-CBD777CFCE22}"/>
              </a:ext>
            </a:extLst>
          </p:cNvPr>
          <p:cNvSpPr/>
          <p:nvPr/>
        </p:nvSpPr>
        <p:spPr>
          <a:xfrm>
            <a:off x="10551297" y="5602480"/>
            <a:ext cx="1542407" cy="214869"/>
          </a:xfrm>
          <a:prstGeom prst="rect">
            <a:avLst/>
          </a:prstGeom>
          <a:solidFill>
            <a:srgbClr val="1B2A4A"/>
          </a:solidFill>
          <a:ln w="15875" cap="flat" cmpd="sng" algn="ctr">
            <a:solidFill>
              <a:srgbClr val="D8D8D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Check Printing File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TextBox 226">
            <a:extLst>
              <a:ext uri="{FF2B5EF4-FFF2-40B4-BE49-F238E27FC236}">
                <a16:creationId xmlns:a16="http://schemas.microsoft.com/office/drawing/2014/main" id="{4B7845C1-A37A-9B75-993A-A0DC43C964A0}"/>
              </a:ext>
            </a:extLst>
          </p:cNvPr>
          <p:cNvSpPr txBox="1"/>
          <p:nvPr/>
        </p:nvSpPr>
        <p:spPr>
          <a:xfrm>
            <a:off x="6922167" y="3231899"/>
            <a:ext cx="670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Current Day Cash Positioning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FCA1C39D-AB30-60A2-B7AE-494798029E0D}"/>
              </a:ext>
            </a:extLst>
          </p:cNvPr>
          <p:cNvSpPr/>
          <p:nvPr/>
        </p:nvSpPr>
        <p:spPr>
          <a:xfrm>
            <a:off x="6050910" y="2960040"/>
            <a:ext cx="956897" cy="287130"/>
          </a:xfrm>
          <a:prstGeom prst="rect">
            <a:avLst/>
          </a:prstGeom>
          <a:solidFill>
            <a:srgbClr val="1B2A4A"/>
          </a:solidFill>
          <a:ln w="15875" cap="flat" cmpd="sng" algn="ctr">
            <a:solidFill>
              <a:srgbClr val="D8D8D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IT2 Anywhere</a:t>
            </a:r>
            <a:endParaRPr kumimoji="0" lang="en-US" sz="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2" name="TextBox 295">
            <a:extLst>
              <a:ext uri="{FF2B5EF4-FFF2-40B4-BE49-F238E27FC236}">
                <a16:creationId xmlns:a16="http://schemas.microsoft.com/office/drawing/2014/main" id="{833EDEAE-7F3C-A5FB-FDBB-01527256B015}"/>
              </a:ext>
            </a:extLst>
          </p:cNvPr>
          <p:cNvSpPr txBox="1"/>
          <p:nvPr/>
        </p:nvSpPr>
        <p:spPr>
          <a:xfrm>
            <a:off x="1734077" y="3947073"/>
            <a:ext cx="13172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ACH File Transmission</a:t>
            </a:r>
          </a:p>
        </p:txBody>
      </p:sp>
      <p:sp>
        <p:nvSpPr>
          <p:cNvPr id="175" name="TextBox 300">
            <a:extLst>
              <a:ext uri="{FF2B5EF4-FFF2-40B4-BE49-F238E27FC236}">
                <a16:creationId xmlns:a16="http://schemas.microsoft.com/office/drawing/2014/main" id="{A5A875AC-9AF7-DE56-84D0-686F5E408725}"/>
              </a:ext>
            </a:extLst>
          </p:cNvPr>
          <p:cNvSpPr txBox="1"/>
          <p:nvPr/>
        </p:nvSpPr>
        <p:spPr>
          <a:xfrm>
            <a:off x="1804543" y="3757803"/>
            <a:ext cx="10459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Wire Transmission</a:t>
            </a:r>
          </a:p>
        </p:txBody>
      </p:sp>
      <p:sp>
        <p:nvSpPr>
          <p:cNvPr id="177" name="TextBox 302">
            <a:extLst>
              <a:ext uri="{FF2B5EF4-FFF2-40B4-BE49-F238E27FC236}">
                <a16:creationId xmlns:a16="http://schemas.microsoft.com/office/drawing/2014/main" id="{652E40C8-85EE-76C3-F769-092C34EEBB02}"/>
              </a:ext>
            </a:extLst>
          </p:cNvPr>
          <p:cNvSpPr txBox="1"/>
          <p:nvPr/>
        </p:nvSpPr>
        <p:spPr>
          <a:xfrm>
            <a:off x="3071450" y="2814477"/>
            <a:ext cx="15234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 dirty="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Check Transmission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CD3DE26-5FEA-951E-D4CF-C59535B1973A}"/>
              </a:ext>
            </a:extLst>
          </p:cNvPr>
          <p:cNvSpPr/>
          <p:nvPr/>
        </p:nvSpPr>
        <p:spPr>
          <a:xfrm>
            <a:off x="5865029" y="5659146"/>
            <a:ext cx="1542407" cy="354193"/>
          </a:xfrm>
          <a:prstGeom prst="rect">
            <a:avLst/>
          </a:prstGeom>
          <a:solidFill>
            <a:srgbClr val="1B2A4A"/>
          </a:solidFill>
          <a:ln w="15875" cap="flat" cmpd="sng" algn="ctr">
            <a:solidFill>
              <a:srgbClr val="D8D8D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Calibri" panose="020F0502020204030204"/>
              </a:rPr>
              <a:t>Sanctions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Screening Service 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TextBox 344">
            <a:extLst>
              <a:ext uri="{FF2B5EF4-FFF2-40B4-BE49-F238E27FC236}">
                <a16:creationId xmlns:a16="http://schemas.microsoft.com/office/drawing/2014/main" id="{70772F90-42BB-BF5C-A4E2-AC8DAFBFBC9F}"/>
              </a:ext>
            </a:extLst>
          </p:cNvPr>
          <p:cNvSpPr txBox="1"/>
          <p:nvPr/>
        </p:nvSpPr>
        <p:spPr>
          <a:xfrm>
            <a:off x="7862728" y="4693594"/>
            <a:ext cx="2048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Positive payee / Monthly Check Recon File /</a:t>
            </a:r>
          </a:p>
          <a:p>
            <a:pPr algn="ctr">
              <a:defRPr/>
            </a:pPr>
            <a:endParaRPr lang="en-US" sz="800">
              <a:solidFill>
                <a:srgbClr val="000000">
                  <a:lumMod val="50000"/>
                  <a:lumOff val="50000"/>
                </a:srgbClr>
              </a:solidFill>
              <a:latin typeface="Calibri" panose="020F0502020204030204"/>
            </a:endParaRPr>
          </a:p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Paid and Outstanding Files</a:t>
            </a:r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E449828-FF34-570D-A8F0-FD75B2FCA56A}"/>
              </a:ext>
            </a:extLst>
          </p:cNvPr>
          <p:cNvCxnSpPr>
            <a:cxnSpLocks/>
          </p:cNvCxnSpPr>
          <p:nvPr/>
        </p:nvCxnSpPr>
        <p:spPr>
          <a:xfrm flipV="1">
            <a:off x="7756536" y="3801334"/>
            <a:ext cx="2652419" cy="12701"/>
          </a:xfrm>
          <a:prstGeom prst="line">
            <a:avLst/>
          </a:prstGeom>
          <a:noFill/>
          <a:ln w="12700" cap="flat" cmpd="sng" algn="ctr">
            <a:solidFill>
              <a:srgbClr val="0070C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84" name="TextBox 353">
            <a:extLst>
              <a:ext uri="{FF2B5EF4-FFF2-40B4-BE49-F238E27FC236}">
                <a16:creationId xmlns:a16="http://schemas.microsoft.com/office/drawing/2014/main" id="{6E8A131B-3177-4CF6-9197-534E59CD7918}"/>
              </a:ext>
            </a:extLst>
          </p:cNvPr>
          <p:cNvSpPr txBox="1"/>
          <p:nvPr/>
        </p:nvSpPr>
        <p:spPr>
          <a:xfrm>
            <a:off x="8413939" y="3777749"/>
            <a:ext cx="1352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Payments STP</a:t>
            </a:r>
          </a:p>
        </p:txBody>
      </p:sp>
      <p:sp>
        <p:nvSpPr>
          <p:cNvPr id="185" name="TextBox 368">
            <a:extLst>
              <a:ext uri="{FF2B5EF4-FFF2-40B4-BE49-F238E27FC236}">
                <a16:creationId xmlns:a16="http://schemas.microsoft.com/office/drawing/2014/main" id="{DEF6B855-89E3-B112-DF84-5B33E1B0DF64}"/>
              </a:ext>
            </a:extLst>
          </p:cNvPr>
          <p:cNvSpPr txBox="1"/>
          <p:nvPr/>
        </p:nvSpPr>
        <p:spPr>
          <a:xfrm>
            <a:off x="1811883" y="3583279"/>
            <a:ext cx="767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ACK / NACKS</a:t>
            </a:r>
          </a:p>
        </p:txBody>
      </p:sp>
      <p:sp>
        <p:nvSpPr>
          <p:cNvPr id="186" name="TextBox 369">
            <a:extLst>
              <a:ext uri="{FF2B5EF4-FFF2-40B4-BE49-F238E27FC236}">
                <a16:creationId xmlns:a16="http://schemas.microsoft.com/office/drawing/2014/main" id="{F2D62D58-40F1-7BEE-8562-3A76ED6906C4}"/>
              </a:ext>
            </a:extLst>
          </p:cNvPr>
          <p:cNvSpPr txBox="1"/>
          <p:nvPr/>
        </p:nvSpPr>
        <p:spPr>
          <a:xfrm>
            <a:off x="6570480" y="4438926"/>
            <a:ext cx="16965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Sanctions File</a:t>
            </a:r>
          </a:p>
          <a:p>
            <a:pPr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Vendor Verification File</a:t>
            </a:r>
          </a:p>
        </p:txBody>
      </p: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id="{6B1B33B7-C867-3EAA-6E57-850479947846}"/>
              </a:ext>
            </a:extLst>
          </p:cNvPr>
          <p:cNvCxnSpPr>
            <a:cxnSpLocks/>
            <a:stCxn id="158" idx="3"/>
          </p:cNvCxnSpPr>
          <p:nvPr/>
        </p:nvCxnSpPr>
        <p:spPr>
          <a:xfrm flipH="1">
            <a:off x="6868051" y="3103605"/>
            <a:ext cx="139756" cy="752846"/>
          </a:xfrm>
          <a:prstGeom prst="bentConnector4">
            <a:avLst>
              <a:gd name="adj1" fmla="val -362971"/>
              <a:gd name="adj2" fmla="val 100021"/>
            </a:avLst>
          </a:prstGeom>
          <a:noFill/>
          <a:ln w="12700" cap="flat" cmpd="sng" algn="ctr">
            <a:solidFill>
              <a:srgbClr val="4672C4"/>
            </a:solidFill>
            <a:prstDash val="solid"/>
            <a:tailEnd type="triangle"/>
          </a:ln>
          <a:effectLst/>
        </p:spPr>
      </p:cxnSp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958D3E38-0DF8-F00E-CB4C-88680D9CF2C6}"/>
              </a:ext>
            </a:extLst>
          </p:cNvPr>
          <p:cNvCxnSpPr>
            <a:cxnSpLocks/>
            <a:stCxn id="150" idx="2"/>
            <a:endCxn id="140" idx="0"/>
          </p:cNvCxnSpPr>
          <p:nvPr/>
        </p:nvCxnSpPr>
        <p:spPr>
          <a:xfrm rot="5400000">
            <a:off x="6938200" y="1705327"/>
            <a:ext cx="567148" cy="133460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6A784EE2-8100-991B-BF2C-42167F200EA9}"/>
              </a:ext>
            </a:extLst>
          </p:cNvPr>
          <p:cNvCxnSpPr>
            <a:endCxn id="140" idx="3"/>
          </p:cNvCxnSpPr>
          <p:nvPr/>
        </p:nvCxnSpPr>
        <p:spPr>
          <a:xfrm rot="10800000">
            <a:off x="7748959" y="3462854"/>
            <a:ext cx="2553280" cy="12700"/>
          </a:xfrm>
          <a:prstGeom prst="bentConnector3">
            <a:avLst>
              <a:gd name="adj1" fmla="val -138"/>
            </a:avLst>
          </a:prstGeom>
          <a:noFill/>
          <a:ln w="12700" cap="flat" cmpd="sng" algn="ctr">
            <a:solidFill>
              <a:srgbClr val="4672C4"/>
            </a:solidFill>
            <a:prstDash val="solid"/>
            <a:tailEnd type="triangle"/>
          </a:ln>
          <a:effectLst/>
        </p:spPr>
      </p:cxnSp>
      <p:sp>
        <p:nvSpPr>
          <p:cNvPr id="191" name="TextBox 511">
            <a:extLst>
              <a:ext uri="{FF2B5EF4-FFF2-40B4-BE49-F238E27FC236}">
                <a16:creationId xmlns:a16="http://schemas.microsoft.com/office/drawing/2014/main" id="{A873008A-BDF6-274A-9218-84F4D7228573}"/>
              </a:ext>
            </a:extLst>
          </p:cNvPr>
          <p:cNvSpPr txBox="1"/>
          <p:nvPr/>
        </p:nvSpPr>
        <p:spPr>
          <a:xfrm>
            <a:off x="8181227" y="3288418"/>
            <a:ext cx="1943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Prior Day / Current Day API Balance / Transactions / Payment Status / Disbursement Funding Report</a:t>
            </a:r>
          </a:p>
        </p:txBody>
      </p:sp>
      <p:sp>
        <p:nvSpPr>
          <p:cNvPr id="192" name="TextBox 512">
            <a:extLst>
              <a:ext uri="{FF2B5EF4-FFF2-40B4-BE49-F238E27FC236}">
                <a16:creationId xmlns:a16="http://schemas.microsoft.com/office/drawing/2014/main" id="{56565FF9-1EC7-0ED4-D3E0-F6FEAF7C7120}"/>
              </a:ext>
            </a:extLst>
          </p:cNvPr>
          <p:cNvSpPr txBox="1"/>
          <p:nvPr/>
        </p:nvSpPr>
        <p:spPr>
          <a:xfrm>
            <a:off x="5459444" y="3388417"/>
            <a:ext cx="7707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Prior Day Reconciliation</a:t>
            </a:r>
          </a:p>
        </p:txBody>
      </p:sp>
      <p:sp>
        <p:nvSpPr>
          <p:cNvPr id="193" name="TextBox 514">
            <a:extLst>
              <a:ext uri="{FF2B5EF4-FFF2-40B4-BE49-F238E27FC236}">
                <a16:creationId xmlns:a16="http://schemas.microsoft.com/office/drawing/2014/main" id="{56FE5175-5340-3866-513A-03E4136C3CD0}"/>
              </a:ext>
            </a:extLst>
          </p:cNvPr>
          <p:cNvSpPr txBox="1"/>
          <p:nvPr/>
        </p:nvSpPr>
        <p:spPr>
          <a:xfrm>
            <a:off x="5362190" y="2797641"/>
            <a:ext cx="7707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Entity Report Access</a:t>
            </a:r>
          </a:p>
        </p:txBody>
      </p:sp>
      <p:cxnSp>
        <p:nvCxnSpPr>
          <p:cNvPr id="196" name="Connector: Elbow 195">
            <a:extLst>
              <a:ext uri="{FF2B5EF4-FFF2-40B4-BE49-F238E27FC236}">
                <a16:creationId xmlns:a16="http://schemas.microsoft.com/office/drawing/2014/main" id="{35305991-0E33-122C-59EB-FE1AAE8978B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69691" y="1694401"/>
            <a:ext cx="269046" cy="1069513"/>
          </a:xfrm>
          <a:prstGeom prst="bentConnector4">
            <a:avLst>
              <a:gd name="adj1" fmla="val 102699"/>
              <a:gd name="adj2" fmla="val 98749"/>
            </a:avLst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199" name="TextBox 173">
            <a:extLst>
              <a:ext uri="{FF2B5EF4-FFF2-40B4-BE49-F238E27FC236}">
                <a16:creationId xmlns:a16="http://schemas.microsoft.com/office/drawing/2014/main" id="{EF3C72BD-5C8D-3060-F525-3743245A07DF}"/>
              </a:ext>
            </a:extLst>
          </p:cNvPr>
          <p:cNvSpPr txBox="1"/>
          <p:nvPr/>
        </p:nvSpPr>
        <p:spPr>
          <a:xfrm>
            <a:off x="2920533" y="3078935"/>
            <a:ext cx="15008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Monthly Check Recon File</a:t>
            </a:r>
          </a:p>
        </p:txBody>
      </p:sp>
      <p:cxnSp>
        <p:nvCxnSpPr>
          <p:cNvPr id="200" name="Connector: Elbow 199">
            <a:extLst>
              <a:ext uri="{FF2B5EF4-FFF2-40B4-BE49-F238E27FC236}">
                <a16:creationId xmlns:a16="http://schemas.microsoft.com/office/drawing/2014/main" id="{D92DFB5A-3603-9725-EC49-586ADFFEEE88}"/>
              </a:ext>
            </a:extLst>
          </p:cNvPr>
          <p:cNvCxnSpPr>
            <a:cxnSpLocks/>
          </p:cNvCxnSpPr>
          <p:nvPr/>
        </p:nvCxnSpPr>
        <p:spPr>
          <a:xfrm>
            <a:off x="1489078" y="3402679"/>
            <a:ext cx="3946431" cy="40679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4672C4"/>
            </a:solidFill>
            <a:prstDash val="solid"/>
            <a:tailEnd type="triangle"/>
          </a:ln>
          <a:effectLst/>
        </p:spPr>
      </p:cxnSp>
      <p:sp>
        <p:nvSpPr>
          <p:cNvPr id="201" name="TextBox 518">
            <a:extLst>
              <a:ext uri="{FF2B5EF4-FFF2-40B4-BE49-F238E27FC236}">
                <a16:creationId xmlns:a16="http://schemas.microsoft.com/office/drawing/2014/main" id="{48A2433F-C5F2-1E3F-5225-362AD723168E}"/>
              </a:ext>
            </a:extLst>
          </p:cNvPr>
          <p:cNvSpPr txBox="1"/>
          <p:nvPr/>
        </p:nvSpPr>
        <p:spPr>
          <a:xfrm>
            <a:off x="3178675" y="2543345"/>
            <a:ext cx="1584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API Call - Repetitive</a:t>
            </a:r>
          </a:p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Code Information for Wires</a:t>
            </a: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B3A2F912-B767-D9F8-1A62-C1EEB97A9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9084" y="5204510"/>
            <a:ext cx="674777" cy="298796"/>
          </a:xfrm>
          <a:prstGeom prst="rect">
            <a:avLst/>
          </a:prstGeom>
        </p:spPr>
      </p:pic>
      <p:sp>
        <p:nvSpPr>
          <p:cNvPr id="211" name="Rectangle 210">
            <a:extLst>
              <a:ext uri="{FF2B5EF4-FFF2-40B4-BE49-F238E27FC236}">
                <a16:creationId xmlns:a16="http://schemas.microsoft.com/office/drawing/2014/main" id="{BE0FB143-79C4-91D2-29EF-E27BAF0A1984}"/>
              </a:ext>
            </a:extLst>
          </p:cNvPr>
          <p:cNvSpPr/>
          <p:nvPr/>
        </p:nvSpPr>
        <p:spPr>
          <a:xfrm>
            <a:off x="5844858" y="6120750"/>
            <a:ext cx="1542407" cy="354193"/>
          </a:xfrm>
          <a:prstGeom prst="rect">
            <a:avLst/>
          </a:prstGeom>
          <a:solidFill>
            <a:srgbClr val="1B2A4A"/>
          </a:solidFill>
          <a:ln w="15875" cap="flat" cmpd="sng" algn="ctr">
            <a:solidFill>
              <a:srgbClr val="D8D8D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Calibri" panose="020F0502020204030204"/>
              </a:rPr>
              <a:t>Vendor Verification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2" name="Picture 211">
            <a:extLst>
              <a:ext uri="{FF2B5EF4-FFF2-40B4-BE49-F238E27FC236}">
                <a16:creationId xmlns:a16="http://schemas.microsoft.com/office/drawing/2014/main" id="{4480D41A-DCC1-F234-8E42-F97F8A98A6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8702" y="5198485"/>
            <a:ext cx="956141" cy="334356"/>
          </a:xfrm>
          <a:prstGeom prst="rect">
            <a:avLst/>
          </a:prstGeom>
        </p:spPr>
      </p:pic>
      <p:sp>
        <p:nvSpPr>
          <p:cNvPr id="213" name="Rectangle 212">
            <a:extLst>
              <a:ext uri="{FF2B5EF4-FFF2-40B4-BE49-F238E27FC236}">
                <a16:creationId xmlns:a16="http://schemas.microsoft.com/office/drawing/2014/main" id="{BAA46E07-F007-C4C3-7EF5-7C7E20C98D30}"/>
              </a:ext>
            </a:extLst>
          </p:cNvPr>
          <p:cNvSpPr/>
          <p:nvPr/>
        </p:nvSpPr>
        <p:spPr>
          <a:xfrm>
            <a:off x="10567470" y="5889786"/>
            <a:ext cx="1542407" cy="214869"/>
          </a:xfrm>
          <a:prstGeom prst="rect">
            <a:avLst/>
          </a:prstGeom>
          <a:solidFill>
            <a:srgbClr val="1B2A4A"/>
          </a:solidFill>
          <a:ln w="15875" cap="flat" cmpd="sng" algn="ctr">
            <a:solidFill>
              <a:srgbClr val="D8D8D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Payroll File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9DA057E-1AA0-5C6B-789F-C344161D9AA3}"/>
              </a:ext>
            </a:extLst>
          </p:cNvPr>
          <p:cNvSpPr/>
          <p:nvPr/>
        </p:nvSpPr>
        <p:spPr>
          <a:xfrm>
            <a:off x="10551297" y="4743574"/>
            <a:ext cx="1542407" cy="214869"/>
          </a:xfrm>
          <a:prstGeom prst="rect">
            <a:avLst/>
          </a:prstGeom>
          <a:solidFill>
            <a:srgbClr val="1B2A4A"/>
          </a:solidFill>
          <a:ln w="15875" cap="flat" cmpd="sng" algn="ctr">
            <a:solidFill>
              <a:srgbClr val="D8D8D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Virtual Credit Card File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5" name="Graphic 214" descr="Office worker male outline">
            <a:extLst>
              <a:ext uri="{FF2B5EF4-FFF2-40B4-BE49-F238E27FC236}">
                <a16:creationId xmlns:a16="http://schemas.microsoft.com/office/drawing/2014/main" id="{2109C3EE-CC67-5D41-4614-59CA437304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89621" y="1297741"/>
            <a:ext cx="551732" cy="551732"/>
          </a:xfrm>
          <a:prstGeom prst="rect">
            <a:avLst/>
          </a:prstGeom>
        </p:spPr>
      </p:pic>
      <p:pic>
        <p:nvPicPr>
          <p:cNvPr id="216" name="Graphic 215" descr="Office worker female outline">
            <a:extLst>
              <a:ext uri="{FF2B5EF4-FFF2-40B4-BE49-F238E27FC236}">
                <a16:creationId xmlns:a16="http://schemas.microsoft.com/office/drawing/2014/main" id="{AAF6ABC8-4DAE-55F9-9D54-724DE85EF4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94184" y="1224021"/>
            <a:ext cx="551732" cy="551732"/>
          </a:xfrm>
          <a:prstGeom prst="rect">
            <a:avLst/>
          </a:prstGeom>
        </p:spPr>
      </p:pic>
      <p:sp>
        <p:nvSpPr>
          <p:cNvPr id="217" name="TextBox 148">
            <a:extLst>
              <a:ext uri="{FF2B5EF4-FFF2-40B4-BE49-F238E27FC236}">
                <a16:creationId xmlns:a16="http://schemas.microsoft.com/office/drawing/2014/main" id="{36816E18-DF29-A713-CD65-B4F549759D97}"/>
              </a:ext>
            </a:extLst>
          </p:cNvPr>
          <p:cNvSpPr txBox="1"/>
          <p:nvPr/>
        </p:nvSpPr>
        <p:spPr>
          <a:xfrm>
            <a:off x="6956591" y="934458"/>
            <a:ext cx="177435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/>
              </a:rPr>
              <a:t>CORPORATE VIEW</a:t>
            </a:r>
          </a:p>
        </p:txBody>
      </p:sp>
      <p:pic>
        <p:nvPicPr>
          <p:cNvPr id="218" name="Graphic 217" descr="Office worker male outline">
            <a:extLst>
              <a:ext uri="{FF2B5EF4-FFF2-40B4-BE49-F238E27FC236}">
                <a16:creationId xmlns:a16="http://schemas.microsoft.com/office/drawing/2014/main" id="{391FA3A8-B6EE-F330-474F-8AAF16B241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72135" y="1474611"/>
            <a:ext cx="551732" cy="551732"/>
          </a:xfrm>
          <a:prstGeom prst="rect">
            <a:avLst/>
          </a:prstGeom>
        </p:spPr>
      </p:pic>
      <p:pic>
        <p:nvPicPr>
          <p:cNvPr id="219" name="Picture 218">
            <a:extLst>
              <a:ext uri="{FF2B5EF4-FFF2-40B4-BE49-F238E27FC236}">
                <a16:creationId xmlns:a16="http://schemas.microsoft.com/office/drawing/2014/main" id="{654F6AEB-49C6-FDF0-F67B-679DABE773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8944" y="5737967"/>
            <a:ext cx="1888060" cy="188806"/>
          </a:xfrm>
          <a:prstGeom prst="rect">
            <a:avLst/>
          </a:prstGeom>
        </p:spPr>
      </p:pic>
      <p:sp>
        <p:nvSpPr>
          <p:cNvPr id="221" name="TextBox 220">
            <a:extLst>
              <a:ext uri="{FF2B5EF4-FFF2-40B4-BE49-F238E27FC236}">
                <a16:creationId xmlns:a16="http://schemas.microsoft.com/office/drawing/2014/main" id="{2F5FE136-054B-2EC4-81F0-B9885F422237}"/>
              </a:ext>
            </a:extLst>
          </p:cNvPr>
          <p:cNvSpPr txBox="1"/>
          <p:nvPr/>
        </p:nvSpPr>
        <p:spPr>
          <a:xfrm>
            <a:off x="8111399" y="5957679"/>
            <a:ext cx="2652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Bank of America Intelligent Receivables®</a:t>
            </a:r>
          </a:p>
        </p:txBody>
      </p:sp>
      <p:sp>
        <p:nvSpPr>
          <p:cNvPr id="222" name="TextBox 344">
            <a:extLst>
              <a:ext uri="{FF2B5EF4-FFF2-40B4-BE49-F238E27FC236}">
                <a16:creationId xmlns:a16="http://schemas.microsoft.com/office/drawing/2014/main" id="{8F8DC3CE-4668-051C-6883-1644BEA49E12}"/>
              </a:ext>
            </a:extLst>
          </p:cNvPr>
          <p:cNvSpPr txBox="1"/>
          <p:nvPr/>
        </p:nvSpPr>
        <p:spPr>
          <a:xfrm>
            <a:off x="10428126" y="6497361"/>
            <a:ext cx="13839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 dirty="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Statement with incoming transactions </a:t>
            </a:r>
          </a:p>
        </p:txBody>
      </p: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FFF101AF-EE6C-C892-BDE0-B98B53527F26}"/>
              </a:ext>
            </a:extLst>
          </p:cNvPr>
          <p:cNvCxnSpPr>
            <a:cxnSpLocks/>
            <a:stCxn id="147" idx="2"/>
          </p:cNvCxnSpPr>
          <p:nvPr/>
        </p:nvCxnSpPr>
        <p:spPr>
          <a:xfrm rot="5400000">
            <a:off x="10694456" y="5927896"/>
            <a:ext cx="273030" cy="9470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: Elbow 227">
            <a:extLst>
              <a:ext uri="{FF2B5EF4-FFF2-40B4-BE49-F238E27FC236}">
                <a16:creationId xmlns:a16="http://schemas.microsoft.com/office/drawing/2014/main" id="{E18C5EC5-035B-4091-6F3C-5970EE727DBD}"/>
              </a:ext>
            </a:extLst>
          </p:cNvPr>
          <p:cNvCxnSpPr>
            <a:cxnSpLocks/>
          </p:cNvCxnSpPr>
          <p:nvPr/>
        </p:nvCxnSpPr>
        <p:spPr>
          <a:xfrm>
            <a:off x="1483433" y="6641009"/>
            <a:ext cx="6654850" cy="62429"/>
          </a:xfrm>
          <a:prstGeom prst="bentConnector3">
            <a:avLst/>
          </a:prstGeom>
          <a:noFill/>
          <a:ln w="12700" cap="flat" cmpd="sng" algn="ctr">
            <a:solidFill>
              <a:srgbClr val="4672C4"/>
            </a:solidFill>
            <a:prstDash val="solid"/>
            <a:headEnd type="triangle" w="med" len="med"/>
            <a:tailEnd type="triangle" w="med" len="med"/>
          </a:ln>
          <a:effectLst/>
        </p:spPr>
      </p:cxnSp>
      <p:sp>
        <p:nvSpPr>
          <p:cNvPr id="229" name="TextBox 344">
            <a:extLst>
              <a:ext uri="{FF2B5EF4-FFF2-40B4-BE49-F238E27FC236}">
                <a16:creationId xmlns:a16="http://schemas.microsoft.com/office/drawing/2014/main" id="{3D003EC3-9A4D-81DE-15B5-8B274B9B9B2A}"/>
              </a:ext>
            </a:extLst>
          </p:cNvPr>
          <p:cNvSpPr txBox="1"/>
          <p:nvPr/>
        </p:nvSpPr>
        <p:spPr>
          <a:xfrm>
            <a:off x="2126781" y="6468968"/>
            <a:ext cx="260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 dirty="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SFTP: AR Information to bank</a:t>
            </a:r>
          </a:p>
          <a:p>
            <a:pPr algn="ctr">
              <a:defRPr/>
            </a:pPr>
            <a:r>
              <a:rPr lang="en-US" sz="800" dirty="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AR information from bank 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F8FFF4DF-C929-AE66-F319-1E94FB6F9B81}"/>
              </a:ext>
            </a:extLst>
          </p:cNvPr>
          <p:cNvCxnSpPr>
            <a:cxnSpLocks/>
          </p:cNvCxnSpPr>
          <p:nvPr/>
        </p:nvCxnSpPr>
        <p:spPr>
          <a:xfrm rot="10800000">
            <a:off x="1496514" y="2585463"/>
            <a:ext cx="3863474" cy="11753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4672C4"/>
            </a:solidFill>
            <a:prstDash val="solid"/>
            <a:tailEnd type="triangle"/>
          </a:ln>
          <a:effectLst/>
        </p:spPr>
      </p:cxnSp>
      <p:sp>
        <p:nvSpPr>
          <p:cNvPr id="7" name="TextBox 295">
            <a:extLst>
              <a:ext uri="{FF2B5EF4-FFF2-40B4-BE49-F238E27FC236}">
                <a16:creationId xmlns:a16="http://schemas.microsoft.com/office/drawing/2014/main" id="{C6F7B162-B4BC-3A23-57A1-B5B77D329D1A}"/>
              </a:ext>
            </a:extLst>
          </p:cNvPr>
          <p:cNvSpPr txBox="1"/>
          <p:nvPr/>
        </p:nvSpPr>
        <p:spPr>
          <a:xfrm>
            <a:off x="1678501" y="4155608"/>
            <a:ext cx="13172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800">
                <a:solidFill>
                  <a:srgbClr val="000000">
                    <a:lumMod val="50000"/>
                    <a:lumOff val="50000"/>
                  </a:srgbClr>
                </a:solidFill>
                <a:latin typeface="Calibri" panose="020F0502020204030204"/>
              </a:rPr>
              <a:t>Accounting entries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3D6C9D-7D7E-435B-0C51-DDC927DD5B3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110738" y="6261261"/>
            <a:ext cx="1226606" cy="319793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91457F-5A22-9BC9-4BC3-28E8C661B6C8}"/>
              </a:ext>
            </a:extLst>
          </p:cNvPr>
          <p:cNvCxnSpPr>
            <a:cxnSpLocks/>
          </p:cNvCxnSpPr>
          <p:nvPr/>
        </p:nvCxnSpPr>
        <p:spPr>
          <a:xfrm>
            <a:off x="1470352" y="913235"/>
            <a:ext cx="26162" cy="5768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75EDA8C1-46E3-28C1-25F0-E4D66DBDA7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53468" y="1740085"/>
            <a:ext cx="500948" cy="57851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3C71CD5-47F1-BABB-9BE9-83F7ADFFA25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19926" y="2135747"/>
            <a:ext cx="534502" cy="50858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2DC235B-365E-DB6A-7721-2875523DAD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19926" y="2762698"/>
            <a:ext cx="1024669" cy="419060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27AFD7E3-1A6E-94C9-04D4-A546F666848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97316" y="3322088"/>
            <a:ext cx="622772" cy="503222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E680FB46-C646-D063-62FE-A9554A24CB2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95427" y="2777865"/>
            <a:ext cx="500948" cy="495988"/>
          </a:xfrm>
          <a:prstGeom prst="rect">
            <a:avLst/>
          </a:prstGeom>
        </p:spPr>
      </p:pic>
      <p:pic>
        <p:nvPicPr>
          <p:cNvPr id="171" name="Picture 170">
            <a:extLst>
              <a:ext uri="{FF2B5EF4-FFF2-40B4-BE49-F238E27FC236}">
                <a16:creationId xmlns:a16="http://schemas.microsoft.com/office/drawing/2014/main" id="{617DEF39-EEB3-4AF6-3166-5E790B6ED4D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76738" y="3945874"/>
            <a:ext cx="523869" cy="674160"/>
          </a:xfrm>
          <a:prstGeom prst="rect">
            <a:avLst/>
          </a:pr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70E366B4-0570-DA29-2F95-B06547B2984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94792" y="3309258"/>
            <a:ext cx="898912" cy="324854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D9727398-BDAB-8B9B-B305-8F0D2D5EFFB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174890" y="3674695"/>
            <a:ext cx="910827" cy="196547"/>
          </a:xfrm>
          <a:prstGeom prst="rect">
            <a:avLst/>
          </a:prstGeom>
        </p:spPr>
      </p:pic>
      <p:sp>
        <p:nvSpPr>
          <p:cNvPr id="197" name="Shape 23">
            <a:extLst>
              <a:ext uri="{FF2B5EF4-FFF2-40B4-BE49-F238E27FC236}">
                <a16:creationId xmlns:a16="http://schemas.microsoft.com/office/drawing/2014/main" id="{FBD5695C-974A-BEA2-FBDB-B6A710F9C43C}"/>
              </a:ext>
            </a:extLst>
          </p:cNvPr>
          <p:cNvSpPr/>
          <p:nvPr/>
        </p:nvSpPr>
        <p:spPr>
          <a:xfrm>
            <a:off x="26101" y="1376575"/>
            <a:ext cx="1283747" cy="98036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Text 25">
            <a:extLst>
              <a:ext uri="{FF2B5EF4-FFF2-40B4-BE49-F238E27FC236}">
                <a16:creationId xmlns:a16="http://schemas.microsoft.com/office/drawing/2014/main" id="{D6939A6C-830A-3F78-3C0A-FF40DDFC66ED}"/>
              </a:ext>
            </a:extLst>
          </p:cNvPr>
          <p:cNvSpPr/>
          <p:nvPr/>
        </p:nvSpPr>
        <p:spPr>
          <a:xfrm>
            <a:off x="571350" y="1401719"/>
            <a:ext cx="824866" cy="60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200" dirty="0"/>
          </a:p>
        </p:txBody>
      </p:sp>
      <p:sp>
        <p:nvSpPr>
          <p:cNvPr id="208" name="Text 15">
            <a:extLst>
              <a:ext uri="{FF2B5EF4-FFF2-40B4-BE49-F238E27FC236}">
                <a16:creationId xmlns:a16="http://schemas.microsoft.com/office/drawing/2014/main" id="{2701A425-6957-FD30-EB50-F1FF4072FA55}"/>
              </a:ext>
            </a:extLst>
          </p:cNvPr>
          <p:cNvSpPr/>
          <p:nvPr/>
        </p:nvSpPr>
        <p:spPr>
          <a:xfrm>
            <a:off x="65787" y="1474611"/>
            <a:ext cx="1612463" cy="5520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b="1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LFMM</a:t>
            </a:r>
          </a:p>
          <a:p>
            <a:r>
              <a:rPr lang="en-US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ZENITH</a:t>
            </a:r>
          </a:p>
          <a:p>
            <a:pPr marL="0" indent="0">
              <a:buNone/>
            </a:pPr>
            <a:endParaRPr lang="en-US" b="1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NMC</a:t>
            </a:r>
          </a:p>
          <a:p>
            <a:pPr marL="0" indent="0">
              <a:buNone/>
            </a:pPr>
            <a:endParaRPr lang="en-US" b="1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AGRICARE</a:t>
            </a:r>
          </a:p>
          <a:p>
            <a:pPr marL="0" indent="0">
              <a:buNone/>
            </a:pPr>
            <a:r>
              <a:rPr lang="en-US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FMOG</a:t>
            </a:r>
          </a:p>
          <a:p>
            <a:pPr marL="0" indent="0">
              <a:buNone/>
            </a:pPr>
            <a:endParaRPr lang="en-US" b="1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GMA</a:t>
            </a:r>
          </a:p>
          <a:p>
            <a:pPr marL="0" indent="0">
              <a:buNone/>
            </a:pPr>
            <a:r>
              <a:rPr lang="en-US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PATIVOIRE</a:t>
            </a:r>
          </a:p>
          <a:p>
            <a:pPr marL="0" indent="0">
              <a:buNone/>
            </a:pPr>
            <a:endParaRPr lang="en-US" b="1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GMD</a:t>
            </a:r>
            <a:br>
              <a:rPr lang="en-US" b="1" dirty="0"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endParaRPr lang="en-US" b="1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MOCHASA</a:t>
            </a:r>
          </a:p>
          <a:p>
            <a:pPr marL="0" indent="0">
              <a:buNone/>
            </a:pPr>
            <a:endParaRPr lang="en-US" b="1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BEIRA</a:t>
            </a:r>
          </a:p>
          <a:p>
            <a:pPr marL="0" indent="0">
              <a:buNone/>
            </a:pPr>
            <a:endParaRPr lang="en-US" b="1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IAG/UAG</a:t>
            </a:r>
          </a:p>
          <a:p>
            <a:pPr marL="0" indent="0">
              <a:buNone/>
            </a:pPr>
            <a:endParaRPr lang="en-US" b="1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NMG</a:t>
            </a:r>
          </a:p>
          <a:p>
            <a:pPr marL="0" indent="0">
              <a:buNone/>
            </a:pPr>
            <a:endParaRPr lang="en-US" b="1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GMPN</a:t>
            </a:r>
          </a:p>
          <a:p>
            <a:pPr marL="0" indent="0">
              <a:buNone/>
            </a:pPr>
            <a:endParaRPr lang="en-US" b="1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endParaRPr lang="en-US" b="1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endParaRPr lang="en-US" b="1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236" name="Shape 23">
            <a:extLst>
              <a:ext uri="{FF2B5EF4-FFF2-40B4-BE49-F238E27FC236}">
                <a16:creationId xmlns:a16="http://schemas.microsoft.com/office/drawing/2014/main" id="{655349DC-055E-D184-4C4F-2BC30FDF13E6}"/>
              </a:ext>
            </a:extLst>
          </p:cNvPr>
          <p:cNvSpPr/>
          <p:nvPr/>
        </p:nvSpPr>
        <p:spPr>
          <a:xfrm>
            <a:off x="24039" y="2772684"/>
            <a:ext cx="1283747" cy="98036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7" name="Shape 23">
            <a:extLst>
              <a:ext uri="{FF2B5EF4-FFF2-40B4-BE49-F238E27FC236}">
                <a16:creationId xmlns:a16="http://schemas.microsoft.com/office/drawing/2014/main" id="{9402C3EC-A1B7-78A3-B58B-05D8524406A6}"/>
              </a:ext>
            </a:extLst>
          </p:cNvPr>
          <p:cNvSpPr/>
          <p:nvPr/>
        </p:nvSpPr>
        <p:spPr>
          <a:xfrm>
            <a:off x="24039" y="1943120"/>
            <a:ext cx="1283747" cy="98036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8" name="Shape 23">
            <a:extLst>
              <a:ext uri="{FF2B5EF4-FFF2-40B4-BE49-F238E27FC236}">
                <a16:creationId xmlns:a16="http://schemas.microsoft.com/office/drawing/2014/main" id="{4A1043B5-DCE7-B7E6-DF4F-3788EE2B2923}"/>
              </a:ext>
            </a:extLst>
          </p:cNvPr>
          <p:cNvSpPr/>
          <p:nvPr/>
        </p:nvSpPr>
        <p:spPr>
          <a:xfrm>
            <a:off x="56536" y="3585094"/>
            <a:ext cx="1283747" cy="98036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9" name="Shape 23">
            <a:extLst>
              <a:ext uri="{FF2B5EF4-FFF2-40B4-BE49-F238E27FC236}">
                <a16:creationId xmlns:a16="http://schemas.microsoft.com/office/drawing/2014/main" id="{5604EA80-3595-5091-0DE8-9D56D822F8C8}"/>
              </a:ext>
            </a:extLst>
          </p:cNvPr>
          <p:cNvSpPr/>
          <p:nvPr/>
        </p:nvSpPr>
        <p:spPr>
          <a:xfrm>
            <a:off x="43953" y="4138720"/>
            <a:ext cx="1283747" cy="98036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0" name="Shape 23">
            <a:extLst>
              <a:ext uri="{FF2B5EF4-FFF2-40B4-BE49-F238E27FC236}">
                <a16:creationId xmlns:a16="http://schemas.microsoft.com/office/drawing/2014/main" id="{9D842C1D-1542-A771-5AF8-01EA2CCAE01F}"/>
              </a:ext>
            </a:extLst>
          </p:cNvPr>
          <p:cNvSpPr/>
          <p:nvPr/>
        </p:nvSpPr>
        <p:spPr>
          <a:xfrm>
            <a:off x="32947" y="4692346"/>
            <a:ext cx="1283747" cy="98036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1" name="Shape 23">
            <a:extLst>
              <a:ext uri="{FF2B5EF4-FFF2-40B4-BE49-F238E27FC236}">
                <a16:creationId xmlns:a16="http://schemas.microsoft.com/office/drawing/2014/main" id="{C870726F-F649-17E8-933B-7142028C5D48}"/>
              </a:ext>
            </a:extLst>
          </p:cNvPr>
          <p:cNvSpPr/>
          <p:nvPr/>
        </p:nvSpPr>
        <p:spPr>
          <a:xfrm>
            <a:off x="24039" y="5227068"/>
            <a:ext cx="1283747" cy="98036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2" name="Shape 23">
            <a:extLst>
              <a:ext uri="{FF2B5EF4-FFF2-40B4-BE49-F238E27FC236}">
                <a16:creationId xmlns:a16="http://schemas.microsoft.com/office/drawing/2014/main" id="{478C3B99-EF43-0B16-B746-D44656906F7D}"/>
              </a:ext>
            </a:extLst>
          </p:cNvPr>
          <p:cNvSpPr/>
          <p:nvPr/>
        </p:nvSpPr>
        <p:spPr>
          <a:xfrm>
            <a:off x="24039" y="5791750"/>
            <a:ext cx="1283747" cy="98036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3" name="Shape 23">
            <a:extLst>
              <a:ext uri="{FF2B5EF4-FFF2-40B4-BE49-F238E27FC236}">
                <a16:creationId xmlns:a16="http://schemas.microsoft.com/office/drawing/2014/main" id="{D18C07AB-CCF7-1CDE-C3E9-81990FEF0E97}"/>
              </a:ext>
            </a:extLst>
          </p:cNvPr>
          <p:cNvSpPr/>
          <p:nvPr/>
        </p:nvSpPr>
        <p:spPr>
          <a:xfrm>
            <a:off x="43953" y="6364751"/>
            <a:ext cx="1283747" cy="98036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0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95C86-334B-4D2F-53EA-7196F379E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0B847A6-0743-E9CA-48F2-5DCD388D37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48" t="15284" b="12952"/>
          <a:stretch>
            <a:fillRect/>
          </a:stretch>
        </p:blipFill>
        <p:spPr>
          <a:xfrm>
            <a:off x="1198245" y="868680"/>
            <a:ext cx="10506075" cy="5890688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96DF12-66FA-C535-590B-93CC66503772}"/>
              </a:ext>
            </a:extLst>
          </p:cNvPr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8EBAF9-0111-0EDE-5ED0-0B12F452A304}"/>
              </a:ext>
            </a:extLst>
          </p:cNvPr>
          <p:cNvSpPr/>
          <p:nvPr/>
        </p:nvSpPr>
        <p:spPr>
          <a:xfrm>
            <a:off x="457200" y="914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chemeClr val="bg1"/>
                </a:solidFill>
              </a:rPr>
              <a:t>TMS – IT2 &amp; IT2 Anywhere </a:t>
            </a:r>
          </a:p>
        </p:txBody>
      </p:sp>
    </p:spTree>
    <p:extLst>
      <p:ext uri="{BB962C8B-B14F-4D97-AF65-F5344CB8AC3E}">
        <p14:creationId xmlns:p14="http://schemas.microsoft.com/office/powerpoint/2010/main" val="30868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E149C-54DD-86C0-EC86-30346C62D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3B3205-0B01-79BF-55B0-7BFF7439D031}"/>
              </a:ext>
            </a:extLst>
          </p:cNvPr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C49763-12C9-FE22-35FA-A5C540277053}"/>
              </a:ext>
            </a:extLst>
          </p:cNvPr>
          <p:cNvSpPr/>
          <p:nvPr/>
        </p:nvSpPr>
        <p:spPr>
          <a:xfrm>
            <a:off x="457200" y="914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chemeClr val="bg1"/>
                </a:solidFill>
              </a:rPr>
              <a:t>Accounts Receivable Application Automation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21DE81-CA27-EEBF-1EFB-F23E91486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77" y="868680"/>
            <a:ext cx="10059174" cy="56431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1CEB334-ED62-5DAF-3EF8-BFC20682AEB0}"/>
              </a:ext>
            </a:extLst>
          </p:cNvPr>
          <p:cNvSpPr/>
          <p:nvPr/>
        </p:nvSpPr>
        <p:spPr>
          <a:xfrm>
            <a:off x="10696575" y="6105525"/>
            <a:ext cx="295276" cy="190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35FA04-E5EA-8F93-B081-CC4043820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5690" y="938981"/>
            <a:ext cx="1206310" cy="31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21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5241C-D766-E954-BF60-44D8F5046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7C23C6-390D-D78A-2A6A-DBD12B660593}"/>
              </a:ext>
            </a:extLst>
          </p:cNvPr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11B908-46DE-16C0-BD35-FF7DFFBEEDF6}"/>
              </a:ext>
            </a:extLst>
          </p:cNvPr>
          <p:cNvSpPr/>
          <p:nvPr/>
        </p:nvSpPr>
        <p:spPr>
          <a:xfrm>
            <a:off x="161925" y="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bg1"/>
                </a:solidFill>
              </a:rPr>
              <a:t>Implementation Roadmap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82489B6-1D33-F451-23CB-52DC2981DFE0}"/>
              </a:ext>
            </a:extLst>
          </p:cNvPr>
          <p:cNvSpPr/>
          <p:nvPr/>
        </p:nvSpPr>
        <p:spPr>
          <a:xfrm>
            <a:off x="3409950" y="1760220"/>
            <a:ext cx="2057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6C96451-4CBC-0C0E-4A04-F402C97141B1}"/>
              </a:ext>
            </a:extLst>
          </p:cNvPr>
          <p:cNvSpPr/>
          <p:nvPr/>
        </p:nvSpPr>
        <p:spPr>
          <a:xfrm>
            <a:off x="6290310" y="1760220"/>
            <a:ext cx="2057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AE182350-7D1F-21FD-E1BA-CC0FDF6E1002}"/>
              </a:ext>
            </a:extLst>
          </p:cNvPr>
          <p:cNvSpPr/>
          <p:nvPr/>
        </p:nvSpPr>
        <p:spPr>
          <a:xfrm>
            <a:off x="2998470" y="1554480"/>
            <a:ext cx="822960" cy="822960"/>
          </a:xfrm>
          <a:prstGeom prst="ellipse">
            <a:avLst/>
          </a:prstGeom>
          <a:solidFill>
            <a:srgbClr val="2B3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C751B11-038C-A20C-161A-70C3891E414E}"/>
              </a:ext>
            </a:extLst>
          </p:cNvPr>
          <p:cNvSpPr/>
          <p:nvPr/>
        </p:nvSpPr>
        <p:spPr>
          <a:xfrm>
            <a:off x="299847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5B804AF-FE32-6016-79B6-EFBD30F6BF55}"/>
              </a:ext>
            </a:extLst>
          </p:cNvPr>
          <p:cNvSpPr/>
          <p:nvPr/>
        </p:nvSpPr>
        <p:spPr>
          <a:xfrm>
            <a:off x="272415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kern="0" spc="200" dirty="0">
                <a:solidFill>
                  <a:srgbClr val="2B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000" dirty="0">
              <a:solidFill>
                <a:srgbClr val="2B3A54"/>
              </a:solidFill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7005E90-F35C-2559-DB99-86FD6A6E4DB1}"/>
              </a:ext>
            </a:extLst>
          </p:cNvPr>
          <p:cNvSpPr/>
          <p:nvPr/>
        </p:nvSpPr>
        <p:spPr>
          <a:xfrm>
            <a:off x="5878830" y="1554480"/>
            <a:ext cx="822960" cy="822960"/>
          </a:xfrm>
          <a:prstGeom prst="ellipse">
            <a:avLst/>
          </a:prstGeom>
          <a:solidFill>
            <a:srgbClr val="2B3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FBAF1FD-309E-E8AF-33FE-CA7C7BD201EF}"/>
              </a:ext>
            </a:extLst>
          </p:cNvPr>
          <p:cNvSpPr/>
          <p:nvPr/>
        </p:nvSpPr>
        <p:spPr>
          <a:xfrm>
            <a:off x="587883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55CB6203-FBCD-8837-924A-2F741F888597}"/>
              </a:ext>
            </a:extLst>
          </p:cNvPr>
          <p:cNvSpPr/>
          <p:nvPr/>
        </p:nvSpPr>
        <p:spPr>
          <a:xfrm>
            <a:off x="560451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kern="0" spc="200" dirty="0">
                <a:solidFill>
                  <a:srgbClr val="2B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000" dirty="0">
              <a:solidFill>
                <a:srgbClr val="2B3A54"/>
              </a:solidFill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AF3A665-6782-006E-01EB-12CDBCCA7FB5}"/>
              </a:ext>
            </a:extLst>
          </p:cNvPr>
          <p:cNvSpPr/>
          <p:nvPr/>
        </p:nvSpPr>
        <p:spPr>
          <a:xfrm>
            <a:off x="8759190" y="1554480"/>
            <a:ext cx="822960" cy="822960"/>
          </a:xfrm>
          <a:prstGeom prst="ellipse">
            <a:avLst/>
          </a:prstGeom>
          <a:solidFill>
            <a:srgbClr val="2B3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8630AA9-363E-8978-BD12-27D323563887}"/>
              </a:ext>
            </a:extLst>
          </p:cNvPr>
          <p:cNvSpPr/>
          <p:nvPr/>
        </p:nvSpPr>
        <p:spPr>
          <a:xfrm>
            <a:off x="875919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C6506C92-AF8F-6F0D-3FF4-2A214D0B40DB}"/>
              </a:ext>
            </a:extLst>
          </p:cNvPr>
          <p:cNvSpPr/>
          <p:nvPr/>
        </p:nvSpPr>
        <p:spPr>
          <a:xfrm>
            <a:off x="848487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kern="0" spc="200" dirty="0">
                <a:solidFill>
                  <a:srgbClr val="2B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>
              <a:solidFill>
                <a:srgbClr val="2B3A54"/>
              </a:solidFill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1503E90D-F3CA-BCF7-2A5A-23C361454066}"/>
              </a:ext>
            </a:extLst>
          </p:cNvPr>
          <p:cNvSpPr/>
          <p:nvPr/>
        </p:nvSpPr>
        <p:spPr>
          <a:xfrm>
            <a:off x="9673590" y="1691640"/>
            <a:ext cx="640080" cy="320040"/>
          </a:xfrm>
          <a:prstGeom prst="rect">
            <a:avLst/>
          </a:prstGeom>
          <a:solidFill>
            <a:srgbClr val="2B3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582E5471-E1DF-B459-8040-025CE4F72EF1}"/>
              </a:ext>
            </a:extLst>
          </p:cNvPr>
          <p:cNvSpPr/>
          <p:nvPr/>
        </p:nvSpPr>
        <p:spPr>
          <a:xfrm>
            <a:off x="9673590" y="16916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7184234D-ACE3-A5C3-7E82-73F84F71B659}"/>
              </a:ext>
            </a:extLst>
          </p:cNvPr>
          <p:cNvSpPr/>
          <p:nvPr/>
        </p:nvSpPr>
        <p:spPr>
          <a:xfrm>
            <a:off x="1878330" y="2971800"/>
            <a:ext cx="260604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9C6E92B2-66DB-869E-71EF-046968CA7F1B}"/>
              </a:ext>
            </a:extLst>
          </p:cNvPr>
          <p:cNvSpPr/>
          <p:nvPr/>
        </p:nvSpPr>
        <p:spPr>
          <a:xfrm>
            <a:off x="2015490" y="3081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Rapid Assessment</a:t>
            </a:r>
            <a:endParaRPr lang="en-US" sz="12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CEB8567F-8BAA-EC65-B1EF-51C27FD3173D}"/>
              </a:ext>
            </a:extLst>
          </p:cNvPr>
          <p:cNvSpPr/>
          <p:nvPr/>
        </p:nvSpPr>
        <p:spPr>
          <a:xfrm>
            <a:off x="2015490" y="34747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Footprint &amp; Rationalization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identification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and Target Process Design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and Proposed Technology Assessment</a:t>
            </a:r>
            <a:endParaRPr lang="en-US" sz="100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6FD332D0-381A-B968-22B0-F4D7D614869F}"/>
              </a:ext>
            </a:extLst>
          </p:cNvPr>
          <p:cNvSpPr/>
          <p:nvPr/>
        </p:nvSpPr>
        <p:spPr>
          <a:xfrm>
            <a:off x="1969770" y="4956048"/>
            <a:ext cx="2423160" cy="256032"/>
          </a:xfrm>
          <a:prstGeom prst="rect">
            <a:avLst/>
          </a:prstGeom>
          <a:solidFill>
            <a:srgbClr val="2B3A54">
              <a:alpha val="25000"/>
            </a:srgbClr>
          </a:solidFill>
          <a:ln>
            <a:solidFill>
              <a:srgbClr val="2B3A54"/>
            </a:solidFill>
          </a:ln>
        </p:spPr>
        <p:txBody>
          <a:bodyPr/>
          <a:lstStyle/>
          <a:p>
            <a:endParaRPr lang="en-US">
              <a:solidFill>
                <a:srgbClr val="2B3A54"/>
              </a:solidFill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02775C36-F321-5CB3-6E33-2F4F52D738B0}"/>
              </a:ext>
            </a:extLst>
          </p:cNvPr>
          <p:cNvSpPr/>
          <p:nvPr/>
        </p:nvSpPr>
        <p:spPr>
          <a:xfrm>
            <a:off x="2015490" y="4956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i="1" dirty="0">
                <a:solidFill>
                  <a:srgbClr val="0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Approved design</a:t>
            </a:r>
            <a:endParaRPr lang="en-US" sz="900" b="1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3E64136D-9C53-5405-9DAE-DFDAC6E67678}"/>
              </a:ext>
            </a:extLst>
          </p:cNvPr>
          <p:cNvSpPr/>
          <p:nvPr/>
        </p:nvSpPr>
        <p:spPr>
          <a:xfrm>
            <a:off x="4712970" y="2971800"/>
            <a:ext cx="260604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DFC2921C-A2E1-6213-CC4D-2BCCAB915ED5}"/>
              </a:ext>
            </a:extLst>
          </p:cNvPr>
          <p:cNvSpPr/>
          <p:nvPr/>
        </p:nvSpPr>
        <p:spPr>
          <a:xfrm>
            <a:off x="4850130" y="3081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Implementation</a:t>
            </a:r>
            <a:endParaRPr lang="en-US" sz="12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1A5E87B4-2242-4BC9-0E5F-9E1AFCB46EDE}"/>
              </a:ext>
            </a:extLst>
          </p:cNvPr>
          <p:cNvSpPr/>
          <p:nvPr/>
        </p:nvSpPr>
        <p:spPr>
          <a:xfrm>
            <a:off x="4850130" y="34747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rationalization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collections digitalization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funding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repatriation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automation &amp; real-time visibility</a:t>
            </a:r>
            <a:endParaRPr lang="en-US" sz="1000" dirty="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89DECD04-6BEF-4978-A2FF-83C0A501F21D}"/>
              </a:ext>
            </a:extLst>
          </p:cNvPr>
          <p:cNvSpPr/>
          <p:nvPr/>
        </p:nvSpPr>
        <p:spPr>
          <a:xfrm>
            <a:off x="4804410" y="4956048"/>
            <a:ext cx="2423160" cy="256032"/>
          </a:xfrm>
          <a:prstGeom prst="rect">
            <a:avLst/>
          </a:prstGeom>
          <a:solidFill>
            <a:srgbClr val="2B3A54">
              <a:alpha val="25000"/>
            </a:srgbClr>
          </a:solidFill>
          <a:ln>
            <a:solidFill>
              <a:srgbClr val="2B3A54"/>
            </a:solidFill>
          </a:ln>
        </p:spPr>
        <p:txBody>
          <a:bodyPr/>
          <a:lstStyle/>
          <a:p>
            <a:endParaRPr lang="en-US">
              <a:solidFill>
                <a:srgbClr val="2B3A54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0B643BAE-626C-9BD2-4DA1-AF54E3DABF60}"/>
              </a:ext>
            </a:extLst>
          </p:cNvPr>
          <p:cNvSpPr/>
          <p:nvPr/>
        </p:nvSpPr>
        <p:spPr>
          <a:xfrm>
            <a:off x="4850130" y="4956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i="1" dirty="0">
                <a:solidFill>
                  <a:srgbClr val="0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Ivory Coast operational</a:t>
            </a:r>
            <a:endParaRPr lang="en-US" sz="900" b="1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FDEABB9D-35D4-ED22-E33C-0A40623F31F6}"/>
              </a:ext>
            </a:extLst>
          </p:cNvPr>
          <p:cNvSpPr/>
          <p:nvPr/>
        </p:nvSpPr>
        <p:spPr>
          <a:xfrm>
            <a:off x="7547610" y="2971800"/>
            <a:ext cx="260604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36D6A41D-BD9C-20D3-05CE-D793769CAD16}"/>
              </a:ext>
            </a:extLst>
          </p:cNvPr>
          <p:cNvSpPr/>
          <p:nvPr/>
        </p:nvSpPr>
        <p:spPr>
          <a:xfrm>
            <a:off x="7684770" y="3081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Scale &amp; Optimize</a:t>
            </a:r>
            <a:endParaRPr lang="en-US" sz="12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BF25238C-BAED-D81F-EAA4-4141B757CD10}"/>
              </a:ext>
            </a:extLst>
          </p:cNvPr>
          <p:cNvSpPr/>
          <p:nvPr/>
        </p:nvSpPr>
        <p:spPr>
          <a:xfrm>
            <a:off x="7684770" y="34747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rollout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&amp; operational dashboards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controls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handoff</a:t>
            </a:r>
            <a:endParaRPr lang="en-US" sz="1000" dirty="0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261B8257-C786-8DA0-3D4A-4CF35829411B}"/>
              </a:ext>
            </a:extLst>
          </p:cNvPr>
          <p:cNvSpPr/>
          <p:nvPr/>
        </p:nvSpPr>
        <p:spPr>
          <a:xfrm>
            <a:off x="7639050" y="4956048"/>
            <a:ext cx="2423160" cy="256032"/>
          </a:xfrm>
          <a:prstGeom prst="rect">
            <a:avLst/>
          </a:prstGeom>
          <a:solidFill>
            <a:srgbClr val="2B3A54">
              <a:alpha val="25000"/>
            </a:srgbClr>
          </a:solidFill>
          <a:ln>
            <a:solidFill>
              <a:srgbClr val="2B3A54"/>
            </a:solidFill>
          </a:ln>
        </p:spPr>
        <p:txBody>
          <a:bodyPr/>
          <a:lstStyle/>
          <a:p>
            <a:endParaRPr lang="en-US">
              <a:solidFill>
                <a:srgbClr val="2B3A54"/>
              </a:solidFill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1125B5F7-F98E-45AB-B255-D72A3F9252D5}"/>
              </a:ext>
            </a:extLst>
          </p:cNvPr>
          <p:cNvSpPr/>
          <p:nvPr/>
        </p:nvSpPr>
        <p:spPr>
          <a:xfrm>
            <a:off x="7684770" y="4956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i="1" dirty="0">
                <a:solidFill>
                  <a:srgbClr val="0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Senegal operational</a:t>
            </a:r>
            <a:endParaRPr 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746415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5eec038-2a5d-428c-b652-ebdf19a03045" xsi:nil="true"/>
    <lcf76f155ced4ddcb4097134ff3c332f xmlns="f056b49d-f388-4507-bfe7-6222449188a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E3E0FE5A4F4B42B8F13987D4AC0E03" ma:contentTypeVersion="12" ma:contentTypeDescription="Create a new document." ma:contentTypeScope="" ma:versionID="347bc9edc7e18520879551c197ab21b0">
  <xsd:schema xmlns:xsd="http://www.w3.org/2001/XMLSchema" xmlns:xs="http://www.w3.org/2001/XMLSchema" xmlns:p="http://schemas.microsoft.com/office/2006/metadata/properties" xmlns:ns2="f056b49d-f388-4507-bfe7-6222449188ac" xmlns:ns3="75eec038-2a5d-428c-b652-ebdf19a03045" targetNamespace="http://schemas.microsoft.com/office/2006/metadata/properties" ma:root="true" ma:fieldsID="1c12aaa0307551c9a93e6d44fa209bb4" ns2:_="" ns3:_="">
    <xsd:import namespace="f056b49d-f388-4507-bfe7-6222449188ac"/>
    <xsd:import namespace="75eec038-2a5d-428c-b652-ebdf19a030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6b49d-f388-4507-bfe7-6222449188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cc9fd06-0adc-4013-a360-dc11143f06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eec038-2a5d-428c-b652-ebdf19a0304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9951d3b9-bde2-4de7-aee2-b0286d80395a}" ma:internalName="TaxCatchAll" ma:showField="CatchAllData" ma:web="75eec038-2a5d-428c-b652-ebdf19a030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BD00BA-6A6F-4677-B640-D1D3F7458A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55CC12-8CA2-44AE-A359-2A5B1B8DF609}">
  <ds:schemaRefs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75eec038-2a5d-428c-b652-ebdf19a03045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056b49d-f388-4507-bfe7-6222449188ac"/>
  </ds:schemaRefs>
</ds:datastoreItem>
</file>

<file path=customXml/itemProps3.xml><?xml version="1.0" encoding="utf-8"?>
<ds:datastoreItem xmlns:ds="http://schemas.openxmlformats.org/officeDocument/2006/customXml" ds:itemID="{B98EE8AF-BBB8-4D0A-A637-79180D9F218C}">
  <ds:schemaRefs>
    <ds:schemaRef ds:uri="75eec038-2a5d-428c-b652-ebdf19a03045"/>
    <ds:schemaRef ds:uri="f056b49d-f388-4507-bfe7-6222449188a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cd7ba155-7fcf-43d7-926a-d9dfe6e7d0f3}" enabled="0" method="" siteId="{cd7ba155-7fcf-43d7-926a-d9dfe6e7d0f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491</Words>
  <Application>Microsoft Office PowerPoint</Application>
  <PresentationFormat>Widescreen</PresentationFormat>
  <Paragraphs>155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Panama AP Process Flow</dc:title>
  <dc:subject>PptxGenJS Presentation</dc:subject>
  <dc:creator>Treasury</dc:creator>
  <cp:lastModifiedBy>Hoskins, Adriana</cp:lastModifiedBy>
  <cp:revision>6</cp:revision>
  <dcterms:created xsi:type="dcterms:W3CDTF">2026-02-23T02:27:29Z</dcterms:created>
  <dcterms:modified xsi:type="dcterms:W3CDTF">2026-03-13T22:17:16Z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0x0101008DE3E0FE5A4F4B42B8F13987D4AC0E03</vt:lpwstr>
  </property>
  <property fmtid="{D5CDD505-2E9C-101B-9397-08002B2CF9AE}" pid="3" name="MediaServiceImageTags">
    <vt:lpwstr/>
  </property>
</Properties>
</file>